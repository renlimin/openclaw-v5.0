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22860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Source Han Sans"/>
                <a:ea typeface="Source Han Sans"/>
              </a:rPr>
              <a:t>新品发布会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33832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BEE3FA"/>
                </a:solidFill>
                <a:latin typeface="Source Han Sans"/>
                <a:ea typeface="Source Han Sans"/>
              </a:rPr>
              <a:t>PRODUCT LAUNCH 2025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3776" y="3931920"/>
            <a:ext cx="36576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93776" y="420624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FFFFFF"/>
                </a:solidFill>
                <a:latin typeface="Source Han Sans"/>
                <a:ea typeface="Source Han Sans"/>
              </a:rPr>
              <a:t>梆梆安全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FFFFFF"/>
                </a:solidFill>
                <a:latin typeface="Source Han Sans"/>
                <a:ea typeface="Source Han Sans"/>
              </a:rPr>
              <a:t>2025.01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0350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0">
                <a:solidFill>
                  <a:srgbClr val="BEE3FA"/>
                </a:solidFill>
                <a:latin typeface="Source Han Sans"/>
                <a:ea typeface="Source Han Sans"/>
              </a:rPr>
              <a:t>稳如泰山·值得托付</a:t>
            </a:r>
          </a:p>
        </p:txBody>
      </p:sp>
      <p:sp>
        <p:nvSpPr>
          <p:cNvPr id="8" name="Oval 7"/>
          <p:cNvSpPr/>
          <p:nvPr/>
        </p:nvSpPr>
        <p:spPr>
          <a:xfrm>
            <a:off x="10972800" y="6035040"/>
            <a:ext cx="137160" cy="137160"/>
          </a:xfrm>
          <a:prstGeom prst="ellipse">
            <a:avLst/>
          </a:prstGeom>
          <a:solidFill>
            <a:srgbClr val="EFB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7315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BEE3FA"/>
                </a:solidFill>
                <a:latin typeface="Source Han Sans"/>
                <a:ea typeface="Source Han Sans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109728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Source Han Sans"/>
                <a:ea typeface="Source Han Sans"/>
              </a:rPr>
              <a:t>目  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920240"/>
            <a:ext cx="1828800" cy="0"/>
          </a:xfrm>
          <a:prstGeom prst="line">
            <a:avLst/>
          </a:prstGeom>
          <a:ln w="25400">
            <a:solidFill>
              <a:srgbClr val="EFB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93776" y="2286000"/>
            <a:ext cx="457200" cy="457200"/>
          </a:xfrm>
          <a:prstGeom prst="ellipse">
            <a:avLst/>
          </a:prstGeom>
          <a:noFill/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23591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Source Han Sans"/>
                <a:ea typeface="Source Han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226771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Source Han Sans"/>
                <a:ea typeface="Source Han Sans"/>
              </a:rPr>
              <a:t>产品概览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6" y="2651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EE3FA"/>
                </a:solidFill>
                <a:latin typeface="Source Han Sans"/>
                <a:ea typeface="Source Han Sans"/>
              </a:rPr>
              <a:t>OVERVIEW</a:t>
            </a:r>
          </a:p>
        </p:txBody>
      </p:sp>
      <p:sp>
        <p:nvSpPr>
          <p:cNvPr id="9" name="Oval 8"/>
          <p:cNvSpPr/>
          <p:nvPr/>
        </p:nvSpPr>
        <p:spPr>
          <a:xfrm>
            <a:off x="493776" y="3108960"/>
            <a:ext cx="457200" cy="457200"/>
          </a:xfrm>
          <a:prstGeom prst="ellipse">
            <a:avLst/>
          </a:prstGeom>
          <a:noFill/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31821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Source Han Sans"/>
                <a:ea typeface="Source Ha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309067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Source Han Sans"/>
                <a:ea typeface="Source Han Sans"/>
              </a:rPr>
              <a:t>核心功能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34747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EE3FA"/>
                </a:solidFill>
                <a:latin typeface="Source Han Sans"/>
                <a:ea typeface="Source Han Sans"/>
              </a:rPr>
              <a:t>FEATURES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" y="3931920"/>
            <a:ext cx="457200" cy="457200"/>
          </a:xfrm>
          <a:prstGeom prst="ellipse">
            <a:avLst/>
          </a:prstGeom>
          <a:noFill/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40050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Source Han Sans"/>
                <a:ea typeface="Source Han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91363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Source Han Sans"/>
                <a:ea typeface="Source Han Sans"/>
              </a:rPr>
              <a:t>技术架构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42976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EE3FA"/>
                </a:solidFill>
                <a:latin typeface="Source Han Sans"/>
                <a:ea typeface="Source Han Sans"/>
              </a:rPr>
              <a:t>ARCHITECTURE</a:t>
            </a:r>
          </a:p>
        </p:txBody>
      </p:sp>
      <p:sp>
        <p:nvSpPr>
          <p:cNvPr id="17" name="Oval 16"/>
          <p:cNvSpPr/>
          <p:nvPr/>
        </p:nvSpPr>
        <p:spPr>
          <a:xfrm>
            <a:off x="493776" y="4754880"/>
            <a:ext cx="457200" cy="457200"/>
          </a:xfrm>
          <a:prstGeom prst="ellipse">
            <a:avLst/>
          </a:prstGeom>
          <a:noFill/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482803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Source Han Sans"/>
                <a:ea typeface="Source Han San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47365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Source Han Sans"/>
                <a:ea typeface="Source Han Sans"/>
              </a:rPr>
              <a:t>方案优势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5120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EE3FA"/>
                </a:solidFill>
                <a:latin typeface="Source Han Sans"/>
                <a:ea typeface="Source Han Sans"/>
              </a:rPr>
              <a:t>ADVANTAGES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0"/>
            <a:ext cx="91440" cy="6858000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0" y="5029200"/>
            <a:ext cx="1371600" cy="1371600"/>
          </a:xfrm>
          <a:prstGeom prst="ellipse">
            <a:avLst/>
          </a:prstGeom>
          <a:noFill/>
          <a:ln w="127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0" y="5303520"/>
            <a:ext cx="822960" cy="822960"/>
          </a:xfrm>
          <a:prstGeom prst="ellipse">
            <a:avLst/>
          </a:prstGeom>
          <a:noFill/>
          <a:ln w="12700">
            <a:solidFill>
              <a:srgbClr val="EFB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noFill/>
          <a:ln w="127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noFill/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1371600"/>
            <a:ext cx="4572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0" b="1">
                <a:solidFill>
                  <a:srgbClr val="2D74BB"/>
                </a:solidFill>
                <a:latin typeface="Source Han Sans"/>
                <a:ea typeface="Source Han Sa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657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EFBA20"/>
                </a:solidFill>
                <a:latin typeface="Source Han Sans"/>
                <a:ea typeface="Source Han Sans"/>
              </a:rPr>
              <a:t>PART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02336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FFFFFF"/>
                </a:solidFill>
                <a:latin typeface="Source Han Sans"/>
                <a:ea typeface="Source Han Sans"/>
              </a:rPr>
              <a:t>产品概览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3776" y="4937760"/>
            <a:ext cx="1828800" cy="0"/>
          </a:xfrm>
          <a:prstGeom prst="line">
            <a:avLst/>
          </a:prstGeom>
          <a:ln w="25400">
            <a:solidFill>
              <a:srgbClr val="EFB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93776" y="5120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BEE3FA"/>
                </a:solidFill>
                <a:latin typeface="Source Han Sans"/>
                <a:ea typeface="Source Han Sans"/>
              </a:rPr>
              <a:t>新一代移动安全平台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Source Han Sans"/>
                <a:ea typeface="Source Han Sans"/>
              </a:rPr>
              <a:t>四大核心功能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EE3FA"/>
                </a:solidFill>
                <a:latin typeface="Source Han Sans"/>
                <a:ea typeface="Source Han Sans"/>
              </a:rPr>
              <a:t>FOUR CORE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" y="1280160"/>
            <a:ext cx="2560320" cy="1645920"/>
          </a:xfrm>
          <a:prstGeom prst="roundRect">
            <a:avLst/>
          </a:prstGeom>
          <a:solidFill>
            <a:srgbClr val="0A2540"/>
          </a:solidFill>
          <a:ln w="1905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41731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EFBA20"/>
                </a:solidFill>
                <a:latin typeface="Source Han Sans"/>
                <a:ea typeface="Source Han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18288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Source Han Sans"/>
                <a:ea typeface="Source Han Sans"/>
              </a:rPr>
              <a:t>智能检测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1945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EE3FA"/>
                </a:solidFill>
                <a:latin typeface="Source Han Sans"/>
                <a:ea typeface="Source Han Sans"/>
              </a:rPr>
              <a:t>AI驱动的深度安全检测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2463" y="1280160"/>
            <a:ext cx="2560320" cy="1645920"/>
          </a:xfrm>
          <a:prstGeom prst="roundRect">
            <a:avLst/>
          </a:prstGeom>
          <a:solidFill>
            <a:srgbClr val="0A2540"/>
          </a:solidFill>
          <a:ln w="1905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5344" y="141731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EFBA20"/>
                </a:solidFill>
                <a:latin typeface="Source Han Sans"/>
                <a:ea typeface="Source Ha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5344" y="18288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Source Han Sans"/>
                <a:ea typeface="Source Han Sans"/>
              </a:rPr>
              <a:t>硬核加固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21945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EE3FA"/>
                </a:solidFill>
                <a:latin typeface="Source Han Sans"/>
                <a:ea typeface="Source Han Sans"/>
              </a:rPr>
              <a:t>全方位应用安全保护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7103" y="1280160"/>
            <a:ext cx="2560320" cy="1645920"/>
          </a:xfrm>
          <a:prstGeom prst="roundRect">
            <a:avLst/>
          </a:prstGeom>
          <a:solidFill>
            <a:srgbClr val="0A2540"/>
          </a:solidFill>
          <a:ln w="1905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9983" y="141731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EFBA20"/>
                </a:solidFill>
                <a:latin typeface="Source Han Sans"/>
                <a:ea typeface="Source Han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3" y="18288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Source Han Sans"/>
                <a:ea typeface="Source Han Sans"/>
              </a:rPr>
              <a:t>实时监测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3" y="21945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EE3FA"/>
                </a:solidFill>
                <a:latin typeface="Source Han Sans"/>
                <a:ea typeface="Source Han Sans"/>
              </a:rPr>
              <a:t>7×24运行态安全监控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81743" y="1280160"/>
            <a:ext cx="2560320" cy="1645920"/>
          </a:xfrm>
          <a:prstGeom prst="roundRect">
            <a:avLst/>
          </a:prstGeom>
          <a:solidFill>
            <a:srgbClr val="0A2540"/>
          </a:solidFill>
          <a:ln w="1905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4623" y="1417319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EFBA20"/>
                </a:solidFill>
                <a:latin typeface="Source Han Sans"/>
                <a:ea typeface="Source Han San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3" y="18288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Source Han Sans"/>
                <a:ea typeface="Source Han Sans"/>
              </a:rPr>
              <a:t>快速响应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64623" y="21945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EE3FA"/>
                </a:solidFill>
                <a:latin typeface="Source Han Sans"/>
                <a:ea typeface="Source Han Sans"/>
              </a:rPr>
              <a:t>分钟级安全事件处置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" y="3200400"/>
            <a:ext cx="10058400" cy="228600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28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160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B9BD5"/>
                </a:solidFill>
                <a:latin typeface="Source Han Sans"/>
                <a:ea typeface="Source Han Sans"/>
              </a:rPr>
              <a:t>📊 数据展示区域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Source Han Sans"/>
                <a:ea typeface="Source Han Sans"/>
              </a:rPr>
              <a:t>产品特性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EE3FA"/>
                </a:solidFill>
                <a:latin typeface="Source Han Sans"/>
                <a:ea typeface="Source Han Sans"/>
              </a:rP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463039"/>
            <a:ext cx="5029200" cy="411480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28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3337559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B9BD5"/>
                </a:solidFill>
                <a:latin typeface="Source Han Sans"/>
                <a:ea typeface="Source Han Sans"/>
              </a:rPr>
              <a:t>📷 配图区域</a:t>
            </a:r>
          </a:p>
        </p:txBody>
      </p:sp>
      <p:sp>
        <p:nvSpPr>
          <p:cNvPr id="7" name="Oval 6"/>
          <p:cNvSpPr/>
          <p:nvPr/>
        </p:nvSpPr>
        <p:spPr>
          <a:xfrm>
            <a:off x="6181344" y="1664207"/>
            <a:ext cx="109728" cy="109728"/>
          </a:xfrm>
          <a:prstGeom prst="ellipse">
            <a:avLst/>
          </a:prstGeom>
          <a:solidFill>
            <a:srgbClr val="EFB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600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Source Han Sans"/>
                <a:ea typeface="Source Han Sans"/>
              </a:rPr>
              <a:t>静态应用安全测试（SAST）</a:t>
            </a:r>
          </a:p>
        </p:txBody>
      </p:sp>
      <p:sp>
        <p:nvSpPr>
          <p:cNvPr id="9" name="Oval 8"/>
          <p:cNvSpPr/>
          <p:nvPr/>
        </p:nvSpPr>
        <p:spPr>
          <a:xfrm>
            <a:off x="6181344" y="2167128"/>
            <a:ext cx="109728" cy="109728"/>
          </a:xfrm>
          <a:prstGeom prst="ellipse">
            <a:avLst/>
          </a:prstGeom>
          <a:solidFill>
            <a:srgbClr val="EFB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21031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Source Han Sans"/>
                <a:ea typeface="Source Han Sans"/>
              </a:rPr>
              <a:t>动态应用安全测试（DAST）</a:t>
            </a:r>
          </a:p>
        </p:txBody>
      </p:sp>
      <p:sp>
        <p:nvSpPr>
          <p:cNvPr id="11" name="Oval 10"/>
          <p:cNvSpPr/>
          <p:nvPr/>
        </p:nvSpPr>
        <p:spPr>
          <a:xfrm>
            <a:off x="6181344" y="2670048"/>
            <a:ext cx="109728" cy="109728"/>
          </a:xfrm>
          <a:prstGeom prst="ellipse">
            <a:avLst/>
          </a:prstGeom>
          <a:solidFill>
            <a:srgbClr val="EFB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2606039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Source Han Sans"/>
                <a:ea typeface="Source Han Sans"/>
              </a:rPr>
              <a:t>移动应用安全加固</a:t>
            </a:r>
          </a:p>
        </p:txBody>
      </p:sp>
      <p:sp>
        <p:nvSpPr>
          <p:cNvPr id="13" name="Oval 12"/>
          <p:cNvSpPr/>
          <p:nvPr/>
        </p:nvSpPr>
        <p:spPr>
          <a:xfrm>
            <a:off x="6181344" y="3172968"/>
            <a:ext cx="109728" cy="109728"/>
          </a:xfrm>
          <a:prstGeom prst="ellipse">
            <a:avLst/>
          </a:prstGeom>
          <a:solidFill>
            <a:srgbClr val="EFB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3108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Source Han Sans"/>
                <a:ea typeface="Source Han Sans"/>
              </a:rPr>
              <a:t>运行时应用自保护（RASP）</a:t>
            </a:r>
          </a:p>
        </p:txBody>
      </p:sp>
      <p:sp>
        <p:nvSpPr>
          <p:cNvPr id="15" name="Oval 14"/>
          <p:cNvSpPr/>
          <p:nvPr/>
        </p:nvSpPr>
        <p:spPr>
          <a:xfrm>
            <a:off x="6181344" y="3675888"/>
            <a:ext cx="109728" cy="109728"/>
          </a:xfrm>
          <a:prstGeom prst="ellipse">
            <a:avLst/>
          </a:prstGeom>
          <a:solidFill>
            <a:srgbClr val="EFB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36118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Source Han Sans"/>
                <a:ea typeface="Source Han Sans"/>
              </a:rPr>
              <a:t>威胁情报实时推送</a:t>
            </a:r>
          </a:p>
        </p:txBody>
      </p:sp>
      <p:sp>
        <p:nvSpPr>
          <p:cNvPr id="17" name="Oval 16"/>
          <p:cNvSpPr/>
          <p:nvPr/>
        </p:nvSpPr>
        <p:spPr>
          <a:xfrm>
            <a:off x="6181344" y="4178808"/>
            <a:ext cx="109728" cy="109728"/>
          </a:xfrm>
          <a:prstGeom prst="ellipse">
            <a:avLst/>
          </a:prstGeom>
          <a:solidFill>
            <a:srgbClr val="EFB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4114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Source Han Sans"/>
                <a:ea typeface="Source Han Sans"/>
              </a:rPr>
              <a:t>安全态势可视化分析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noFill/>
          <a:ln w="127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noFill/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1371600"/>
            <a:ext cx="4572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0" b="1">
                <a:solidFill>
                  <a:srgbClr val="2D74BB"/>
                </a:solidFill>
                <a:latin typeface="Source Han Sans"/>
                <a:ea typeface="Source Han Sa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657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EFBA20"/>
                </a:solidFill>
                <a:latin typeface="Source Han Sans"/>
                <a:ea typeface="Source Han Sans"/>
              </a:rPr>
              <a:t>PART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02336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FFFFFF"/>
                </a:solidFill>
                <a:latin typeface="Source Han Sans"/>
                <a:ea typeface="Source Han Sans"/>
              </a:rPr>
              <a:t>技术架构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3776" y="4937760"/>
            <a:ext cx="1828800" cy="0"/>
          </a:xfrm>
          <a:prstGeom prst="line">
            <a:avLst/>
          </a:prstGeom>
          <a:ln w="25400">
            <a:solidFill>
              <a:srgbClr val="EFB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93776" y="5120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BEE3FA"/>
                </a:solidFill>
                <a:latin typeface="Source Han Sans"/>
                <a:ea typeface="Source Han Sans"/>
              </a:rPr>
              <a:t>新一代智能安全引擎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Source Han Sans"/>
                <a:ea typeface="Source Han Sans"/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EE3FA"/>
                </a:solidFill>
                <a:latin typeface="Source Han Sans"/>
                <a:ea typeface="Source Han Sans"/>
              </a:rPr>
              <a:t>TECHNOLOGY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3776" y="1207007"/>
            <a:ext cx="10780776" cy="0"/>
          </a:xfrm>
          <a:prstGeom prst="line">
            <a:avLst/>
          </a:prstGeom>
          <a:ln w="9525">
            <a:solidFill>
              <a:srgbClr val="28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455767" y="2715768"/>
            <a:ext cx="1280160" cy="1280160"/>
          </a:xfrm>
          <a:prstGeom prst="ellipse">
            <a:avLst/>
          </a:prstGeom>
          <a:solidFill>
            <a:srgbClr val="2D74B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55767" y="3081528"/>
            <a:ext cx="1280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Source Han Sans"/>
                <a:ea typeface="Source Han Sans"/>
              </a:rPr>
              <a:t>AI 安全引擎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95847" y="1527048"/>
            <a:ext cx="0" cy="1828800"/>
          </a:xfrm>
          <a:prstGeom prst="line">
            <a:avLst/>
          </a:prstGeom>
          <a:ln w="25400">
            <a:solidFill>
              <a:srgbClr val="28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592927" y="1024127"/>
            <a:ext cx="1005840" cy="1005840"/>
          </a:xfrm>
          <a:prstGeom prst="ellipse">
            <a:avLst/>
          </a:prstGeom>
          <a:solidFill>
            <a:srgbClr val="0A2540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1447" y="134416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Source Han Sans"/>
                <a:ea typeface="Source Han Sans"/>
              </a:rPr>
              <a:t>数据层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7" y="3355848"/>
            <a:ext cx="2286000" cy="0"/>
          </a:xfrm>
          <a:prstGeom prst="line">
            <a:avLst/>
          </a:prstGeom>
          <a:ln w="25400">
            <a:solidFill>
              <a:srgbClr val="28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878927" y="2852928"/>
            <a:ext cx="1005840" cy="1005840"/>
          </a:xfrm>
          <a:prstGeom prst="ellipse">
            <a:avLst/>
          </a:prstGeom>
          <a:solidFill>
            <a:srgbClr val="0A2540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67447" y="317296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Source Han Sans"/>
                <a:ea typeface="Source Han Sans"/>
              </a:rPr>
              <a:t>算法层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7" y="3355848"/>
            <a:ext cx="0" cy="1828800"/>
          </a:xfrm>
          <a:prstGeom prst="line">
            <a:avLst/>
          </a:prstGeom>
          <a:ln w="25400">
            <a:solidFill>
              <a:srgbClr val="28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592927" y="4681728"/>
            <a:ext cx="1005840" cy="1005840"/>
          </a:xfrm>
          <a:prstGeom prst="ellipse">
            <a:avLst/>
          </a:prstGeom>
          <a:solidFill>
            <a:srgbClr val="0A2540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1447" y="500176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Source Han Sans"/>
                <a:ea typeface="Source Han Sans"/>
              </a:rPr>
              <a:t>服务层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809847" y="3355848"/>
            <a:ext cx="2286000" cy="0"/>
          </a:xfrm>
          <a:prstGeom prst="line">
            <a:avLst/>
          </a:prstGeom>
          <a:ln w="25400">
            <a:solidFill>
              <a:srgbClr val="28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306927" y="2852928"/>
            <a:ext cx="1005840" cy="1005840"/>
          </a:xfrm>
          <a:prstGeom prst="ellipse">
            <a:avLst/>
          </a:prstGeom>
          <a:solidFill>
            <a:srgbClr val="0A2540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5447" y="317296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Source Han Sans"/>
                <a:ea typeface="Source Han Sans"/>
              </a:rPr>
              <a:t>应用层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Source Han Sans"/>
                <a:ea typeface="Source Han Sans"/>
              </a:rPr>
              <a:t>产品矩阵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EE3FA"/>
                </a:solidFill>
                <a:latin typeface="Source Han Sans"/>
                <a:ea typeface="Source Han Sans"/>
              </a:rPr>
              <a:t>PRODUCT PORTFOLIO</a:t>
            </a:r>
          </a:p>
        </p:txBody>
      </p:sp>
      <p:sp>
        <p:nvSpPr>
          <p:cNvPr id="5" name="Oval 4"/>
          <p:cNvSpPr/>
          <p:nvPr/>
        </p:nvSpPr>
        <p:spPr>
          <a:xfrm>
            <a:off x="5364327" y="2743200"/>
            <a:ext cx="1463040" cy="1463040"/>
          </a:xfrm>
          <a:prstGeom prst="ellipse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64327" y="320040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Source Han Sans"/>
                <a:ea typeface="Source Han Sans"/>
              </a:rPr>
              <a:t>安全大脑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095847" y="1828799"/>
            <a:ext cx="0" cy="1645921"/>
          </a:xfrm>
          <a:prstGeom prst="line">
            <a:avLst/>
          </a:prstGeom>
          <a:ln w="19050">
            <a:solidFill>
              <a:srgbClr val="28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592927" y="1325879"/>
            <a:ext cx="1005840" cy="1005840"/>
          </a:xfrm>
          <a:prstGeom prst="ellipse">
            <a:avLst/>
          </a:prstGeom>
          <a:solidFill>
            <a:srgbClr val="0A2540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1447" y="169163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ource Han Sans"/>
                <a:ea typeface="Source Han Sans"/>
              </a:rPr>
              <a:t>App检测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095847" y="2651760"/>
            <a:ext cx="1425409" cy="822960"/>
          </a:xfrm>
          <a:prstGeom prst="line">
            <a:avLst/>
          </a:prstGeom>
          <a:ln w="19050">
            <a:solidFill>
              <a:srgbClr val="28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018336" y="2148839"/>
            <a:ext cx="1005840" cy="1005840"/>
          </a:xfrm>
          <a:prstGeom prst="ellipse">
            <a:avLst/>
          </a:prstGeom>
          <a:solidFill>
            <a:srgbClr val="0A2540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6856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ource Han Sans"/>
                <a:ea typeface="Source Han Sans"/>
              </a:rPr>
              <a:t>App加固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" y="3474720"/>
            <a:ext cx="1425409" cy="822959"/>
          </a:xfrm>
          <a:prstGeom prst="line">
            <a:avLst/>
          </a:prstGeom>
          <a:ln w="19050">
            <a:solidFill>
              <a:srgbClr val="28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018336" y="3794759"/>
            <a:ext cx="1005840" cy="1005840"/>
          </a:xfrm>
          <a:prstGeom prst="ellipse">
            <a:avLst/>
          </a:prstGeom>
          <a:solidFill>
            <a:srgbClr val="0A2540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6856" y="416051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ource Han Sans"/>
                <a:ea typeface="Source Han Sans"/>
              </a:rPr>
              <a:t>小程序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" y="3474720"/>
            <a:ext cx="0" cy="1645920"/>
          </a:xfrm>
          <a:prstGeom prst="line">
            <a:avLst/>
          </a:prstGeom>
          <a:ln w="19050">
            <a:solidFill>
              <a:srgbClr val="28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592927" y="4617720"/>
            <a:ext cx="1005840" cy="1005840"/>
          </a:xfrm>
          <a:prstGeom prst="ellipse">
            <a:avLst/>
          </a:prstGeom>
          <a:solidFill>
            <a:srgbClr val="0A2540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1447" y="498347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ource Han Sans"/>
                <a:ea typeface="Source Han Sans"/>
              </a:rPr>
              <a:t>SDK安全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670439" y="3474720"/>
            <a:ext cx="1425408" cy="822960"/>
          </a:xfrm>
          <a:prstGeom prst="line">
            <a:avLst/>
          </a:prstGeom>
          <a:ln w="19050">
            <a:solidFill>
              <a:srgbClr val="28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167519" y="3794760"/>
            <a:ext cx="1005840" cy="1005840"/>
          </a:xfrm>
          <a:prstGeom prst="ellipse">
            <a:avLst/>
          </a:prstGeom>
          <a:solidFill>
            <a:srgbClr val="0A2540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56039" y="4160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ource Han Sans"/>
                <a:ea typeface="Source Han Sans"/>
              </a:rPr>
              <a:t>威胁情报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4670439" y="2651760"/>
            <a:ext cx="1425408" cy="822960"/>
          </a:xfrm>
          <a:prstGeom prst="line">
            <a:avLst/>
          </a:prstGeom>
          <a:ln w="19050">
            <a:solidFill>
              <a:srgbClr val="28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167519" y="2148840"/>
            <a:ext cx="1005840" cy="1005840"/>
          </a:xfrm>
          <a:prstGeom prst="ellipse">
            <a:avLst/>
          </a:prstGeom>
          <a:solidFill>
            <a:srgbClr val="0A2540"/>
          </a:solidFill>
          <a:ln w="254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56039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Source Han Sans"/>
                <a:ea typeface="Source Han Sans"/>
              </a:rPr>
              <a:t>合规服务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Source Han Sans"/>
                <a:ea typeface="Source Han Sans"/>
              </a:rPr>
              <a:t>方案对比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EE3FA"/>
                </a:solidFill>
                <a:latin typeface="Source Han Sans"/>
                <a:ea typeface="Source Han Sans"/>
              </a:rPr>
              <a:t>SOLUTION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4114799"/>
            <a:ext cx="1097280" cy="594359"/>
          </a:xfrm>
          <a:prstGeom prst="round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4279391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Source Han Sans"/>
                <a:ea typeface="Source Han Sans"/>
              </a:rPr>
              <a:t>数据层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3474719"/>
            <a:ext cx="1737360" cy="594359"/>
          </a:xfrm>
          <a:prstGeom prst="roundRect">
            <a:avLst/>
          </a:prstGeom>
          <a:solidFill>
            <a:srgbClr val="38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3639311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Source Han Sans"/>
                <a:ea typeface="Source Han Sans"/>
              </a:rPr>
              <a:t>能力层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834639"/>
            <a:ext cx="2377439" cy="594359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2999232"/>
            <a:ext cx="23774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Source Han Sans"/>
                <a:ea typeface="Source Han Sans"/>
              </a:rPr>
              <a:t>应用层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2194559"/>
            <a:ext cx="3017520" cy="594359"/>
          </a:xfrm>
          <a:prstGeom prst="roundRect">
            <a:avLst/>
          </a:prstGeom>
          <a:solidFill>
            <a:srgbClr val="8BC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359151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Source Han Sans"/>
                <a:ea typeface="Source Han Sans"/>
              </a:rPr>
              <a:t>决策层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463039"/>
            <a:ext cx="4572000" cy="3840480"/>
          </a:xfrm>
          <a:prstGeom prst="roundRect">
            <a:avLst/>
          </a:prstGeom>
          <a:solidFill>
            <a:srgbClr val="0A2540"/>
          </a:solidFill>
          <a:ln w="1905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691639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Source Han Sans"/>
                <a:ea typeface="Source Han Sans"/>
              </a:rPr>
              <a:t>为什么选择我们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0" y="2148839"/>
            <a:ext cx="822959" cy="0"/>
          </a:xfrm>
          <a:prstGeom prst="line">
            <a:avLst/>
          </a:prstGeom>
          <a:ln w="25400">
            <a:solidFill>
              <a:srgbClr val="EFB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0" y="233172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EE3FA"/>
                </a:solidFill>
                <a:latin typeface="Source Han Sans"/>
                <a:ea typeface="Source Han Sans"/>
              </a:rPr>
              <a:t>• 传统方案：单点工具、被动防御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697479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EE3FA"/>
                </a:solidFill>
                <a:latin typeface="Source Han Sans"/>
                <a:ea typeface="Source Han Sans"/>
              </a:rPr>
              <a:t>• 我们的方案：平台化、主动防御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063239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EE3FA"/>
                </a:solidFill>
                <a:latin typeface="Source Han Sans"/>
                <a:ea typeface="Source Han Sans"/>
              </a:rPr>
              <a:t>• • 检测率提升 300%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42900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EE3FA"/>
                </a:solidFill>
                <a:latin typeface="Source Han Sans"/>
                <a:ea typeface="Source Han Sans"/>
              </a:rPr>
              <a:t>• • 误报率降低 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79476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EE3FA"/>
                </a:solidFill>
                <a:latin typeface="Source Han Sans"/>
                <a:ea typeface="Source Han Sans"/>
              </a:rPr>
              <a:t>• • 运营效率提升 200%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16052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EE3FA"/>
                </a:solidFill>
                <a:latin typeface="Source Han Sans"/>
                <a:ea typeface="Source Han Sans"/>
              </a:rPr>
              <a:t>• • TCO 降低 50%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93776" y="429768"/>
            <a:ext cx="0" cy="457200"/>
          </a:xfrm>
          <a:prstGeom prst="line">
            <a:avLst/>
          </a:prstGeom>
          <a:ln w="3810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30936" y="384048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Source Han Sans"/>
                <a:ea typeface="Source Han Sans"/>
              </a:rPr>
              <a:t>发展路线图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26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BEE3FA"/>
                </a:solidFill>
                <a:latin typeface="Source Han Sans"/>
                <a:ea typeface="Source Han Sans"/>
              </a:rPr>
              <a:t>ROADMAP 2025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3776" y="1252728"/>
            <a:ext cx="10780776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9264" y="3401568"/>
            <a:ext cx="10490911" cy="0"/>
          </a:xfrm>
          <a:prstGeom prst="line">
            <a:avLst/>
          </a:prstGeom>
          <a:ln w="31750">
            <a:solidFill>
              <a:srgbClr val="2D7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733778" y="3291840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843506" y="3127248"/>
            <a:ext cx="0" cy="137160"/>
          </a:xfrm>
          <a:prstGeom prst="line">
            <a:avLst/>
          </a:prstGeom>
          <a:ln w="12700">
            <a:solidFill>
              <a:srgbClr val="BE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00400" y="1755648"/>
            <a:ext cx="148621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7560" y="1847088"/>
            <a:ext cx="12118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74BB"/>
                </a:solidFill>
                <a:latin typeface="Source Han Sans"/>
                <a:ea typeface="Source Han Sans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7560" y="2075688"/>
            <a:ext cx="12118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Source Han Sans"/>
                <a:ea typeface="Source Han Sans"/>
              </a:rPr>
              <a:t>基础版本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7560" y="2350008"/>
            <a:ext cx="121189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Source Han Sans"/>
                <a:ea typeface="Source Han Sans"/>
              </a:rPr>
              <a:t>核心功能MVP发布</a:t>
            </a:r>
          </a:p>
        </p:txBody>
      </p:sp>
      <p:sp>
        <p:nvSpPr>
          <p:cNvPr id="13" name="Oval 12"/>
          <p:cNvSpPr/>
          <p:nvPr/>
        </p:nvSpPr>
        <p:spPr>
          <a:xfrm>
            <a:off x="3482263" y="3291840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591991" y="3538728"/>
            <a:ext cx="0" cy="137160"/>
          </a:xfrm>
          <a:prstGeom prst="line">
            <a:avLst/>
          </a:prstGeom>
          <a:ln w="12700">
            <a:solidFill>
              <a:srgbClr val="BE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48885" y="3675888"/>
            <a:ext cx="148621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6045" y="3767328"/>
            <a:ext cx="12118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74BB"/>
                </a:solidFill>
                <a:latin typeface="Source Han Sans"/>
                <a:ea typeface="Source Han Sans"/>
              </a:rP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6045" y="3995928"/>
            <a:ext cx="12118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Source Han Sans"/>
                <a:ea typeface="Source Han Sans"/>
              </a:rPr>
              <a:t>AI增强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6045" y="4270248"/>
            <a:ext cx="121189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Source Han Sans"/>
                <a:ea typeface="Source Han Sans"/>
              </a:rPr>
              <a:t>智能检测全面升级</a:t>
            </a:r>
          </a:p>
        </p:txBody>
      </p:sp>
      <p:sp>
        <p:nvSpPr>
          <p:cNvPr id="19" name="Oval 18"/>
          <p:cNvSpPr/>
          <p:nvPr/>
        </p:nvSpPr>
        <p:spPr>
          <a:xfrm>
            <a:off x="5230748" y="3291840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5340476" y="3127248"/>
            <a:ext cx="0" cy="137160"/>
          </a:xfrm>
          <a:prstGeom prst="line">
            <a:avLst/>
          </a:prstGeom>
          <a:ln w="12700">
            <a:solidFill>
              <a:srgbClr val="BE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97370" y="1755648"/>
            <a:ext cx="148621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4530" y="1847088"/>
            <a:ext cx="12118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74BB"/>
                </a:solidFill>
                <a:latin typeface="Source Han Sans"/>
                <a:ea typeface="Source Han Sans"/>
              </a:rPr>
              <a:t>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4530" y="2075688"/>
            <a:ext cx="12118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Source Han Sans"/>
                <a:ea typeface="Source Han Sans"/>
              </a:rPr>
              <a:t>平台化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4530" y="2350008"/>
            <a:ext cx="121189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Source Han Sans"/>
                <a:ea typeface="Source Han Sans"/>
              </a:rPr>
              <a:t>开放平台与生态</a:t>
            </a:r>
          </a:p>
        </p:txBody>
      </p:sp>
      <p:sp>
        <p:nvSpPr>
          <p:cNvPr id="25" name="Oval 24"/>
          <p:cNvSpPr/>
          <p:nvPr/>
        </p:nvSpPr>
        <p:spPr>
          <a:xfrm>
            <a:off x="6979234" y="3291840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7088962" y="3538728"/>
            <a:ext cx="0" cy="137160"/>
          </a:xfrm>
          <a:prstGeom prst="line">
            <a:avLst/>
          </a:prstGeom>
          <a:ln w="12700">
            <a:solidFill>
              <a:srgbClr val="BE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45855" y="3675888"/>
            <a:ext cx="148621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15" y="3767328"/>
            <a:ext cx="12118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74BB"/>
                </a:solidFill>
                <a:latin typeface="Source Han Sans"/>
                <a:ea typeface="Source Han Sans"/>
              </a:rPr>
              <a:t>Q4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15" y="3995928"/>
            <a:ext cx="12118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Source Han Sans"/>
                <a:ea typeface="Source Han Sans"/>
              </a:rPr>
              <a:t>国际化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15" y="4270248"/>
            <a:ext cx="121189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Source Han Sans"/>
                <a:ea typeface="Source Han Sans"/>
              </a:rPr>
              <a:t>海外市场拓展</a:t>
            </a:r>
          </a:p>
        </p:txBody>
      </p:sp>
      <p:sp>
        <p:nvSpPr>
          <p:cNvPr id="31" name="Oval 30"/>
          <p:cNvSpPr/>
          <p:nvPr/>
        </p:nvSpPr>
        <p:spPr>
          <a:xfrm>
            <a:off x="8727719" y="3291840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8837447" y="3127248"/>
            <a:ext cx="0" cy="137160"/>
          </a:xfrm>
          <a:prstGeom prst="line">
            <a:avLst/>
          </a:prstGeom>
          <a:ln w="12700">
            <a:solidFill>
              <a:srgbClr val="BE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94341" y="1755648"/>
            <a:ext cx="148621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31501" y="1847088"/>
            <a:ext cx="12118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74BB"/>
                </a:solidFill>
                <a:latin typeface="Source Han Sans"/>
                <a:ea typeface="Source Han Sans"/>
              </a:rPr>
              <a:t>Q1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1501" y="2075688"/>
            <a:ext cx="12118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Source Han Sans"/>
                <a:ea typeface="Source Han Sans"/>
              </a:rPr>
              <a:t>新领域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1501" y="2350008"/>
            <a:ext cx="121189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Source Han Sans"/>
                <a:ea typeface="Source Han Sans"/>
              </a:rPr>
              <a:t>AI安全新方向</a:t>
            </a:r>
          </a:p>
        </p:txBody>
      </p:sp>
      <p:sp>
        <p:nvSpPr>
          <p:cNvPr id="37" name="Oval 36"/>
          <p:cNvSpPr/>
          <p:nvPr/>
        </p:nvSpPr>
        <p:spPr>
          <a:xfrm>
            <a:off x="10476204" y="3291840"/>
            <a:ext cx="219456" cy="21945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10585932" y="3538728"/>
            <a:ext cx="0" cy="137160"/>
          </a:xfrm>
          <a:prstGeom prst="line">
            <a:avLst/>
          </a:prstGeom>
          <a:ln w="12700">
            <a:solidFill>
              <a:srgbClr val="BEE3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842826" y="3675888"/>
            <a:ext cx="148621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79986" y="3767328"/>
            <a:ext cx="12118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D74BB"/>
                </a:solidFill>
                <a:latin typeface="Source Han Sans"/>
                <a:ea typeface="Source Han Sans"/>
              </a:rPr>
              <a:t>Q2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79986" y="3995928"/>
            <a:ext cx="12118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Source Han Sans"/>
                <a:ea typeface="Source Han Sans"/>
              </a:rPr>
              <a:t>领导者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79986" y="4270248"/>
            <a:ext cx="121189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Source Han Sans"/>
                <a:ea typeface="Source Han Sans"/>
              </a:rPr>
              <a:t>行业领导者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noFill/>
          <a:ln w="12700">
            <a:solidFill>
              <a:srgbClr val="2D74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noFill/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2860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5600" b="1">
                <a:solidFill>
                  <a:srgbClr val="FFFFFF"/>
                </a:solidFill>
                <a:latin typeface="Source Han Sans"/>
                <a:ea typeface="Source Han Sans"/>
              </a:rP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3383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BEE3FA"/>
                </a:solidFill>
                <a:latin typeface="Source Han Sans"/>
                <a:ea typeface="Source Han Sans"/>
              </a:rPr>
              <a:t>THANK YOU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" y="3931920"/>
            <a:ext cx="2743200" cy="0"/>
          </a:xfrm>
          <a:prstGeom prst="line">
            <a:avLst/>
          </a:prstGeom>
          <a:ln w="25400">
            <a:solidFill>
              <a:srgbClr val="EFBA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3776" y="4114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Source Han Sans"/>
                <a:ea typeface="Source Han Sans"/>
              </a:rPr>
              <a:t>www.bangcle.com | 400-123-4567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4572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FBA20"/>
                </a:solidFill>
                <a:latin typeface="Source Han Sans"/>
                <a:ea typeface="Source Han Sans"/>
              </a:rPr>
              <a:t>稳如泰山·值得托付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D7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