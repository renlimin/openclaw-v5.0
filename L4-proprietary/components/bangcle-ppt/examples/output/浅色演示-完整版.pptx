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0"/>
            <a:ext cx="320040" cy="6858000"/>
          </a:xfrm>
          <a:prstGeom prst="rect">
            <a:avLst/>
          </a:prstGeom>
          <a:solidFill>
            <a:srgbClr val="2D74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493776" y="2011680"/>
            <a:ext cx="2286000" cy="0"/>
          </a:xfrm>
          <a:prstGeom prst="line">
            <a:avLst/>
          </a:prstGeom>
          <a:ln w="38100">
            <a:solidFill>
              <a:srgbClr val="2D74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93776" y="2148840"/>
            <a:ext cx="8229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600" b="1">
                <a:solidFill>
                  <a:srgbClr val="2D74BB"/>
                </a:solidFill>
                <a:latin typeface="Source Han Sans"/>
                <a:ea typeface="Source Han Sans"/>
              </a:rPr>
              <a:t>2025年度安全汇报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3776" y="329184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A7A7A7"/>
                </a:solidFill>
                <a:latin typeface="Source Han Sans"/>
                <a:ea typeface="Source Han Sans"/>
              </a:rPr>
              <a:t>ANNUAL SECURITY REPORT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93776" y="3840480"/>
            <a:ext cx="2743200" cy="0"/>
          </a:xfrm>
          <a:prstGeom prst="line">
            <a:avLst/>
          </a:prstGeom>
          <a:ln w="25400">
            <a:solidFill>
              <a:srgbClr val="2D74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93776" y="4114800"/>
            <a:ext cx="4572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00" b="0">
                <a:solidFill>
                  <a:srgbClr val="0070C0"/>
                </a:solidFill>
                <a:latin typeface="Source Han Sans"/>
                <a:ea typeface="Source Han Sans"/>
              </a:rPr>
              <a:t>张安全  |  梆梆安全</a:t>
            </a:r>
          </a:p>
          <a:p>
            <a:pPr algn="l">
              <a:lnSpc>
                <a:spcPct val="150000"/>
              </a:lnSpc>
            </a:pPr>
            <a:r>
              <a:rPr sz="2000" b="0">
                <a:solidFill>
                  <a:srgbClr val="0070C0"/>
                </a:solidFill>
                <a:latin typeface="Source Han Sans"/>
                <a:ea typeface="Source Han Sans"/>
              </a:rPr>
              <a:t>2025年1月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594360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400" b="0">
                <a:solidFill>
                  <a:srgbClr val="A7A7A7"/>
                </a:solidFill>
                <a:latin typeface="Source Han Sans"/>
                <a:ea typeface="Source Han Sans"/>
              </a:rPr>
              <a:t>稳如泰山·值得托付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570464" y="292608"/>
            <a:ext cx="1225296" cy="448056"/>
          </a:xfrm>
          <a:prstGeom prst="roundRect">
            <a:avLst/>
          </a:prstGeom>
          <a:solidFill>
            <a:srgbClr val="2D74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70464" y="402336"/>
            <a:ext cx="122529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1">
                <a:solidFill>
                  <a:srgbClr val="FFFFFF"/>
                </a:solidFill>
                <a:latin typeface="Source Han Sans"/>
                <a:ea typeface="Source Han Sans"/>
              </a:rPr>
              <a:t>Logo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731520"/>
            <a:ext cx="109728" cy="5303520"/>
          </a:xfrm>
          <a:prstGeom prst="rect">
            <a:avLst/>
          </a:prstGeom>
          <a:solidFill>
            <a:srgbClr val="2D74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2743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6000" b="1">
                <a:solidFill>
                  <a:srgbClr val="2D74BB"/>
                </a:solidFill>
                <a:latin typeface="Source Han Sans"/>
                <a:ea typeface="Source Han Sans"/>
              </a:rPr>
              <a:t>目  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828800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800" b="0">
                <a:solidFill>
                  <a:srgbClr val="387BBE"/>
                </a:solidFill>
                <a:latin typeface="Source Han Sans"/>
                <a:ea typeface="Source Han Sans"/>
              </a:rPr>
              <a:t>Contents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0" y="1097280"/>
            <a:ext cx="32918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0" y="1097280"/>
            <a:ext cx="3291840" cy="73152"/>
          </a:xfrm>
          <a:prstGeom prst="rect">
            <a:avLst/>
          </a:prstGeom>
          <a:solidFill>
            <a:srgbClr val="2D74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46320" y="1325880"/>
            <a:ext cx="1371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4800" b="1">
                <a:solidFill>
                  <a:srgbClr val="2D74BB"/>
                </a:solidFill>
                <a:latin typeface="Source Han Sans"/>
                <a:ea typeface="Source Han San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554480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000" b="0">
                <a:solidFill>
                  <a:srgbClr val="A7A7A7"/>
                </a:solidFill>
                <a:latin typeface="Source Han Sans"/>
                <a:ea typeface="Source Han Sans"/>
              </a:rPr>
              <a:t>OVERVIEW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2286000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1">
                <a:solidFill>
                  <a:srgbClr val="2D74BB"/>
                </a:solidFill>
                <a:latin typeface="Source Han Sans"/>
                <a:ea typeface="Source Han Sans"/>
              </a:rPr>
              <a:t>项目概述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846320" y="2834639"/>
            <a:ext cx="640080" cy="0"/>
          </a:xfrm>
          <a:prstGeom prst="line">
            <a:avLst/>
          </a:prstGeom>
          <a:ln w="19050">
            <a:solidFill>
              <a:srgbClr val="2D74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8321040" y="1097280"/>
            <a:ext cx="32918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321040" y="1097280"/>
            <a:ext cx="3291840" cy="73152"/>
          </a:xfrm>
          <a:prstGeom prst="rect">
            <a:avLst/>
          </a:prstGeom>
          <a:solidFill>
            <a:srgbClr val="2D74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0" y="1325880"/>
            <a:ext cx="1371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4800" b="1">
                <a:solidFill>
                  <a:srgbClr val="2D74BB"/>
                </a:solidFill>
                <a:latin typeface="Source Han Sans"/>
                <a:ea typeface="Source Han San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59" y="1554480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000" b="0">
                <a:solidFill>
                  <a:srgbClr val="A7A7A7"/>
                </a:solidFill>
                <a:latin typeface="Source Han Sans"/>
                <a:ea typeface="Source Han Sans"/>
              </a:rPr>
              <a:t>CAPABILITIES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2286000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1">
                <a:solidFill>
                  <a:srgbClr val="2D74BB"/>
                </a:solidFill>
                <a:latin typeface="Source Han Sans"/>
                <a:ea typeface="Source Han Sans"/>
              </a:rPr>
              <a:t>核心能力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595360" y="2834639"/>
            <a:ext cx="640080" cy="0"/>
          </a:xfrm>
          <a:prstGeom prst="line">
            <a:avLst/>
          </a:prstGeom>
          <a:ln w="19050">
            <a:solidFill>
              <a:srgbClr val="2D74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4572000" y="3840480"/>
            <a:ext cx="32918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0" y="3840480"/>
            <a:ext cx="3291840" cy="73152"/>
          </a:xfrm>
          <a:prstGeom prst="rect">
            <a:avLst/>
          </a:prstGeom>
          <a:solidFill>
            <a:srgbClr val="2D74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46320" y="4069080"/>
            <a:ext cx="1371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4800" b="1">
                <a:solidFill>
                  <a:srgbClr val="2D74BB"/>
                </a:solidFill>
                <a:latin typeface="Source Han Sans"/>
                <a:ea typeface="Source Han Sans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4297680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000" b="0">
                <a:solidFill>
                  <a:srgbClr val="A7A7A7"/>
                </a:solidFill>
                <a:latin typeface="Source Han Sans"/>
                <a:ea typeface="Source Han Sans"/>
              </a:rPr>
              <a:t>SOLUTION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46320" y="5029200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1">
                <a:solidFill>
                  <a:srgbClr val="2D74BB"/>
                </a:solidFill>
                <a:latin typeface="Source Han Sans"/>
                <a:ea typeface="Source Han Sans"/>
              </a:rPr>
              <a:t>技术方案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846320" y="5577840"/>
            <a:ext cx="640080" cy="0"/>
          </a:xfrm>
          <a:prstGeom prst="line">
            <a:avLst/>
          </a:prstGeom>
          <a:ln w="19050">
            <a:solidFill>
              <a:srgbClr val="2D74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8321040" y="3840480"/>
            <a:ext cx="32918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321040" y="3840480"/>
            <a:ext cx="3291840" cy="73152"/>
          </a:xfrm>
          <a:prstGeom prst="rect">
            <a:avLst/>
          </a:prstGeom>
          <a:solidFill>
            <a:srgbClr val="2D74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95360" y="4069080"/>
            <a:ext cx="1371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4800" b="1">
                <a:solidFill>
                  <a:srgbClr val="2D74BB"/>
                </a:solidFill>
                <a:latin typeface="Source Han Sans"/>
                <a:ea typeface="Source Han Sans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66959" y="4297680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000" b="0">
                <a:solidFill>
                  <a:srgbClr val="A7A7A7"/>
                </a:solidFill>
                <a:latin typeface="Source Han Sans"/>
                <a:ea typeface="Source Han Sans"/>
              </a:rPr>
              <a:t>ACHIEVEMENTS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95360" y="5029200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1">
                <a:solidFill>
                  <a:srgbClr val="2D74BB"/>
                </a:solidFill>
                <a:latin typeface="Source Han Sans"/>
                <a:ea typeface="Source Han Sans"/>
              </a:rPr>
              <a:t>成果展示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595360" y="5577840"/>
            <a:ext cx="640080" cy="0"/>
          </a:xfrm>
          <a:prstGeom prst="line">
            <a:avLst/>
          </a:prstGeom>
          <a:ln w="19050">
            <a:solidFill>
              <a:srgbClr val="2D74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93776" y="1828800"/>
            <a:ext cx="0" cy="1097280"/>
          </a:xfrm>
          <a:prstGeom prst="line">
            <a:avLst/>
          </a:prstGeom>
          <a:ln w="50800">
            <a:solidFill>
              <a:srgbClr val="2D74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630936" y="164592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A7A7A7"/>
                </a:solidFill>
                <a:latin typeface="Source Han Sans"/>
                <a:ea typeface="Source Han Sans"/>
              </a:rPr>
              <a:t>PART 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93776" y="2011680"/>
            <a:ext cx="27432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600" b="1">
                <a:solidFill>
                  <a:srgbClr val="2D74BB"/>
                </a:solidFill>
                <a:latin typeface="Source Han Sans"/>
                <a:ea typeface="Source Han Sans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3200400"/>
            <a:ext cx="5029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600" b="1">
                <a:solidFill>
                  <a:srgbClr val="2D74BB"/>
                </a:solidFill>
                <a:latin typeface="Source Han Sans"/>
                <a:ea typeface="Source Han Sans"/>
              </a:rPr>
              <a:t>项目概述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384048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A7A7A7"/>
                </a:solidFill>
                <a:latin typeface="Source Han Sans"/>
                <a:ea typeface="Source Han Sans"/>
              </a:rPr>
              <a:t>BACKGROUND &amp; OVERVIEW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2D74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498079" y="1097280"/>
            <a:ext cx="4663440" cy="4663440"/>
          </a:xfrm>
          <a:prstGeom prst="ellipse">
            <a:avLst/>
          </a:prstGeom>
          <a:noFill/>
          <a:ln w="12700">
            <a:solidFill>
              <a:srgbClr val="E7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772400" y="1371600"/>
            <a:ext cx="4114800" cy="4114800"/>
          </a:xfrm>
          <a:prstGeom prst="ellipse">
            <a:avLst/>
          </a:prstGeom>
          <a:solidFill>
            <a:srgbClr val="F5F9FF"/>
          </a:solidFill>
          <a:ln w="25400">
            <a:solidFill>
              <a:srgbClr val="2D74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0" y="2468880"/>
            <a:ext cx="41148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0" b="0">
                <a:solidFill>
                  <a:srgbClr val="2D74BB"/>
                </a:solidFill>
                <a:latin typeface="Source Han Sans"/>
                <a:ea typeface="Source Han Sans"/>
              </a:rPr>
              <a:t>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93776" y="429768"/>
            <a:ext cx="0" cy="457200"/>
          </a:xfrm>
          <a:prstGeom prst="line">
            <a:avLst/>
          </a:prstGeom>
          <a:ln w="38100">
            <a:solidFill>
              <a:srgbClr val="2D74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630936" y="384048"/>
            <a:ext cx="9144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600" b="1">
                <a:solidFill>
                  <a:srgbClr val="2D74BB"/>
                </a:solidFill>
                <a:latin typeface="Source Han Sans"/>
                <a:ea typeface="Source Han Sans"/>
              </a:rPr>
              <a:t>项目背景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" y="932688"/>
            <a:ext cx="9144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A7A7A7"/>
                </a:solidFill>
                <a:latin typeface="Source Han Sans"/>
                <a:ea typeface="Source Han Sans"/>
              </a:rPr>
              <a:t>PROJECT BACKGROUND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93776" y="1252728"/>
            <a:ext cx="10780776" cy="0"/>
          </a:xfrm>
          <a:prstGeom prst="line">
            <a:avLst/>
          </a:prstGeom>
          <a:ln w="9525">
            <a:solidFill>
              <a:srgbClr val="E7E6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94944" y="1481328"/>
            <a:ext cx="0" cy="365760"/>
          </a:xfrm>
          <a:prstGeom prst="line">
            <a:avLst/>
          </a:prstGeom>
          <a:ln w="38100">
            <a:solidFill>
              <a:srgbClr val="2D74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77824" y="1435608"/>
            <a:ext cx="2560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>
                <a:solidFill>
                  <a:srgbClr val="2D74BB"/>
                </a:solidFill>
                <a:latin typeface="Source Han Sans"/>
                <a:ea typeface="Source Han Sans"/>
              </a:rPr>
              <a:t>业务挑战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1801368"/>
            <a:ext cx="2560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595757"/>
                </a:solidFill>
                <a:latin typeface="Source Han Sans"/>
                <a:ea typeface="Source Han Sans"/>
              </a:rPr>
              <a:t>移动应用威胁持续增长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895344" y="1481328"/>
            <a:ext cx="0" cy="365760"/>
          </a:xfrm>
          <a:prstGeom prst="line">
            <a:avLst/>
          </a:prstGeom>
          <a:ln w="38100">
            <a:solidFill>
              <a:srgbClr val="2D74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078224" y="1435608"/>
            <a:ext cx="2560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>
                <a:solidFill>
                  <a:srgbClr val="2D74BB"/>
                </a:solidFill>
                <a:latin typeface="Source Han Sans"/>
                <a:ea typeface="Source Han Sans"/>
              </a:rPr>
              <a:t>合规要求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78224" y="1801368"/>
            <a:ext cx="2560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595757"/>
                </a:solidFill>
                <a:latin typeface="Source Han Sans"/>
                <a:ea typeface="Source Han Sans"/>
              </a:rPr>
              <a:t>等保2.0、数据安全法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94944" y="2487168"/>
            <a:ext cx="0" cy="365760"/>
          </a:xfrm>
          <a:prstGeom prst="line">
            <a:avLst/>
          </a:prstGeom>
          <a:ln w="38100">
            <a:solidFill>
              <a:srgbClr val="2D74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77824" y="2441448"/>
            <a:ext cx="2560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>
                <a:solidFill>
                  <a:srgbClr val="2D74BB"/>
                </a:solidFill>
                <a:latin typeface="Source Han Sans"/>
                <a:ea typeface="Source Han Sans"/>
              </a:rPr>
              <a:t>安全缺口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807208"/>
            <a:ext cx="2560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595757"/>
                </a:solidFill>
                <a:latin typeface="Source Han Sans"/>
                <a:ea typeface="Source Han Sans"/>
              </a:rPr>
              <a:t>现有防护手段不足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895344" y="2487168"/>
            <a:ext cx="0" cy="365760"/>
          </a:xfrm>
          <a:prstGeom prst="line">
            <a:avLst/>
          </a:prstGeom>
          <a:ln w="38100">
            <a:solidFill>
              <a:srgbClr val="2D74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078224" y="2441448"/>
            <a:ext cx="2560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>
                <a:solidFill>
                  <a:srgbClr val="2D74BB"/>
                </a:solidFill>
                <a:latin typeface="Source Han Sans"/>
                <a:ea typeface="Source Han Sans"/>
              </a:rPr>
              <a:t>效率瓶颈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78224" y="2807208"/>
            <a:ext cx="2560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595757"/>
                </a:solidFill>
                <a:latin typeface="Source Han Sans"/>
                <a:ea typeface="Source Han Sans"/>
              </a:rPr>
              <a:t>人工检测效率低下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4944" y="3493008"/>
            <a:ext cx="5093208" cy="21854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9264" y="3721608"/>
            <a:ext cx="454456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>
                <a:solidFill>
                  <a:srgbClr val="2D74BB"/>
                </a:solidFill>
                <a:latin typeface="Source Han Sans"/>
                <a:ea typeface="Source Han Sans"/>
              </a:rPr>
              <a:t>解决方案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69264" y="4178808"/>
            <a:ext cx="640080" cy="0"/>
          </a:xfrm>
          <a:prstGeom prst="line">
            <a:avLst/>
          </a:prstGeom>
          <a:ln w="25400">
            <a:solidFill>
              <a:srgbClr val="2D74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969264" y="4315968"/>
            <a:ext cx="4544568" cy="1179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595757"/>
                </a:solidFill>
                <a:latin typeface="Source Han Sans"/>
                <a:ea typeface="Source Han Sans"/>
              </a:rPr>
              <a:t>基于梆梆安全多年技术积累，</a:t>
            </a:r>
          </a:p>
          <a:p>
            <a:pPr algn="l">
              <a:lnSpc>
                <a:spcPct val="140000"/>
              </a:lnSpc>
            </a:pPr>
            <a:r>
              <a:rPr sz="1400" b="0">
                <a:solidFill>
                  <a:srgbClr val="595757"/>
                </a:solidFill>
                <a:latin typeface="Source Han Sans"/>
                <a:ea typeface="Source Han Sans"/>
              </a:rPr>
              <a:t>构建一站式移动安全防护平台。</a:t>
            </a:r>
          </a:p>
          <a:p>
            <a:pPr algn="l">
              <a:lnSpc>
                <a:spcPct val="140000"/>
              </a:lnSpc>
            </a:pPr>
            <a:r>
              <a:rPr sz="1400" b="0">
                <a:solidFill>
                  <a:srgbClr val="595757"/>
                </a:solidFill>
                <a:latin typeface="Source Han Sans"/>
                <a:ea typeface="Source Han Sans"/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400" b="0">
                <a:solidFill>
                  <a:srgbClr val="595757"/>
                </a:solidFill>
                <a:latin typeface="Source Han Sans"/>
                <a:ea typeface="Source Han Sans"/>
              </a:rPr>
              <a:t>• 检测+加固+监测全链路</a:t>
            </a:r>
          </a:p>
          <a:p>
            <a:pPr algn="l">
              <a:lnSpc>
                <a:spcPct val="140000"/>
              </a:lnSpc>
            </a:pPr>
            <a:r>
              <a:rPr sz="1400" b="0">
                <a:solidFill>
                  <a:srgbClr val="595757"/>
                </a:solidFill>
                <a:latin typeface="Source Han Sans"/>
                <a:ea typeface="Source Han Sans"/>
              </a:rPr>
              <a:t>• AI智能威胁分析</a:t>
            </a:r>
          </a:p>
          <a:p>
            <a:pPr algn="l">
              <a:lnSpc>
                <a:spcPct val="140000"/>
              </a:lnSpc>
            </a:pPr>
            <a:r>
              <a:rPr sz="1400" b="0">
                <a:solidFill>
                  <a:srgbClr val="595757"/>
                </a:solidFill>
                <a:latin typeface="Source Han Sans"/>
                <a:ea typeface="Source Han Sans"/>
              </a:rPr>
              <a:t>• 自动化安全运营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5352" y="3493008"/>
            <a:ext cx="-5145328" cy="2185416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45352" y="4128516"/>
            <a:ext cx="-5145328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400" b="0">
                <a:solidFill>
                  <a:srgbClr val="99AABB"/>
                </a:solidFill>
                <a:latin typeface="Source Han Sans"/>
                <a:ea typeface="Source Han Sans"/>
              </a:rPr>
              <a:t>📷</a:t>
            </a:r>
          </a:p>
          <a:p>
            <a:pPr algn="ctr">
              <a:lnSpc>
                <a:spcPct val="130000"/>
              </a:lnSpc>
            </a:pPr>
            <a:r>
              <a:rPr sz="1400" b="0">
                <a:solidFill>
                  <a:srgbClr val="99AABB"/>
                </a:solidFill>
                <a:latin typeface="Source Han Sans"/>
                <a:ea typeface="Source Han Sans"/>
              </a:rPr>
              <a:t>图片占位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93776" y="429768"/>
            <a:ext cx="0" cy="457200"/>
          </a:xfrm>
          <a:prstGeom prst="line">
            <a:avLst/>
          </a:prstGeom>
          <a:ln w="38100">
            <a:solidFill>
              <a:srgbClr val="2D74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630936" y="384048"/>
            <a:ext cx="9144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600" b="1">
                <a:solidFill>
                  <a:srgbClr val="2D74BB"/>
                </a:solidFill>
                <a:latin typeface="Source Han Sans"/>
                <a:ea typeface="Source Han Sans"/>
              </a:rPr>
              <a:t>三大核心能力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" y="932688"/>
            <a:ext cx="9144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A7A7A7"/>
                </a:solidFill>
                <a:latin typeface="Source Han Sans"/>
                <a:ea typeface="Source Han Sans"/>
              </a:rPr>
              <a:t>THREE CORE CAPABILITIES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93776" y="1252728"/>
            <a:ext cx="10780776" cy="0"/>
          </a:xfrm>
          <a:prstGeom prst="line">
            <a:avLst/>
          </a:prstGeom>
          <a:ln w="9525">
            <a:solidFill>
              <a:srgbClr val="E7E6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0" y="1481328"/>
            <a:ext cx="12191695" cy="2011680"/>
          </a:xfrm>
          <a:prstGeom prst="rect">
            <a:avLst/>
          </a:prstGeom>
          <a:solidFill>
            <a:srgbClr val="2D74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2304288"/>
            <a:ext cx="1219169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400" b="0">
                <a:solidFill>
                  <a:srgbClr val="FFFFFF"/>
                </a:solidFill>
                <a:latin typeface="Source Han Sans"/>
                <a:ea typeface="Source Han Sans"/>
              </a:rPr>
              <a:t>BANNER IMAGE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4944" y="2944368"/>
            <a:ext cx="320040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9264" y="3172968"/>
            <a:ext cx="457200" cy="457200"/>
          </a:xfrm>
          <a:prstGeom prst="ellipse">
            <a:avLst/>
          </a:prstGeom>
          <a:solidFill>
            <a:srgbClr val="2D74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3246120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400" b="1">
                <a:solidFill>
                  <a:srgbClr val="FFFFFF"/>
                </a:solidFill>
                <a:latin typeface="Source Han Sans"/>
                <a:ea typeface="Source Han San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63624" y="3218688"/>
            <a:ext cx="2103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>
                <a:solidFill>
                  <a:srgbClr val="2D74BB"/>
                </a:solidFill>
                <a:latin typeface="Source Han Sans"/>
                <a:ea typeface="Source Han Sans"/>
              </a:rPr>
              <a:t>安全检测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69264" y="3813048"/>
            <a:ext cx="2651760" cy="0"/>
          </a:xfrm>
          <a:prstGeom prst="line">
            <a:avLst/>
          </a:prstGeom>
          <a:ln w="6350">
            <a:solidFill>
              <a:srgbClr val="E7E6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969264" y="3950208"/>
            <a:ext cx="2651760" cy="10058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595757"/>
                </a:solidFill>
                <a:latin typeface="Source Han Sans"/>
                <a:ea typeface="Source Han Sans"/>
              </a:rPr>
              <a:t>静态+动态双引擎，全面发现应用安全漏洞与风险。支持Android/iOS双平台。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77359" y="3127248"/>
            <a:ext cx="320040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751679" y="3355848"/>
            <a:ext cx="457200" cy="457200"/>
          </a:xfrm>
          <a:prstGeom prst="ellipse">
            <a:avLst/>
          </a:prstGeom>
          <a:solidFill>
            <a:srgbClr val="2D74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1679" y="3429000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400" b="1">
                <a:solidFill>
                  <a:srgbClr val="FFFFFF"/>
                </a:solidFill>
                <a:latin typeface="Source Han Sans"/>
                <a:ea typeface="Source Han Sans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46039" y="3401568"/>
            <a:ext cx="2103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>
                <a:solidFill>
                  <a:srgbClr val="2D74BB"/>
                </a:solidFill>
                <a:latin typeface="Source Han Sans"/>
                <a:ea typeface="Source Han Sans"/>
              </a:rPr>
              <a:t>应用加固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751679" y="3995928"/>
            <a:ext cx="2651760" cy="0"/>
          </a:xfrm>
          <a:prstGeom prst="line">
            <a:avLst/>
          </a:prstGeom>
          <a:ln w="6350">
            <a:solidFill>
              <a:srgbClr val="E7E6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751679" y="4133088"/>
            <a:ext cx="2651760" cy="10058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595757"/>
                </a:solidFill>
                <a:latin typeface="Source Han Sans"/>
                <a:ea typeface="Source Han Sans"/>
              </a:rPr>
              <a:t>DEX加密、资源混淆、防调试、防篡改，全方位保护应用安全。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59775" y="2944368"/>
            <a:ext cx="320040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534095" y="3172968"/>
            <a:ext cx="457200" cy="457200"/>
          </a:xfrm>
          <a:prstGeom prst="ellipse">
            <a:avLst/>
          </a:prstGeom>
          <a:solidFill>
            <a:srgbClr val="2D74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34095" y="3246120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400" b="1">
                <a:solidFill>
                  <a:srgbClr val="FFFFFF"/>
                </a:solidFill>
                <a:latin typeface="Source Han Sans"/>
                <a:ea typeface="Source Han Sans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28455" y="3218688"/>
            <a:ext cx="2103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>
                <a:solidFill>
                  <a:srgbClr val="2D74BB"/>
                </a:solidFill>
                <a:latin typeface="Source Han Sans"/>
                <a:ea typeface="Source Han Sans"/>
              </a:rPr>
              <a:t>监测预警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534095" y="3813048"/>
            <a:ext cx="2651760" cy="0"/>
          </a:xfrm>
          <a:prstGeom prst="line">
            <a:avLst/>
          </a:prstGeom>
          <a:ln w="6350">
            <a:solidFill>
              <a:srgbClr val="E7E6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8534095" y="3950208"/>
            <a:ext cx="2651760" cy="10058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595757"/>
                </a:solidFill>
                <a:latin typeface="Source Han Sans"/>
                <a:ea typeface="Source Han Sans"/>
              </a:rPr>
              <a:t>7×24小时实时监测，威胁秒级响应，全面掌控应用安全态势。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93776" y="1828800"/>
            <a:ext cx="0" cy="1097280"/>
          </a:xfrm>
          <a:prstGeom prst="line">
            <a:avLst/>
          </a:prstGeom>
          <a:ln w="50800">
            <a:solidFill>
              <a:srgbClr val="2D74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630936" y="164592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A7A7A7"/>
                </a:solidFill>
                <a:latin typeface="Source Han Sans"/>
                <a:ea typeface="Source Han Sans"/>
              </a:rPr>
              <a:t>PART TWO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93776" y="2011680"/>
            <a:ext cx="27432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600" b="1">
                <a:solidFill>
                  <a:srgbClr val="2D74BB"/>
                </a:solidFill>
                <a:latin typeface="Source Han Sans"/>
                <a:ea typeface="Source Han Sans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3200400"/>
            <a:ext cx="5029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600" b="1">
                <a:solidFill>
                  <a:srgbClr val="2D74BB"/>
                </a:solidFill>
                <a:latin typeface="Source Han Sans"/>
                <a:ea typeface="Source Han Sans"/>
              </a:rPr>
              <a:t>技术方案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384048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A7A7A7"/>
                </a:solidFill>
                <a:latin typeface="Source Han Sans"/>
                <a:ea typeface="Source Han Sans"/>
              </a:rPr>
              <a:t>TECHNICAL SOLUTION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2D74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498079" y="1097280"/>
            <a:ext cx="4663440" cy="4663440"/>
          </a:xfrm>
          <a:prstGeom prst="ellipse">
            <a:avLst/>
          </a:prstGeom>
          <a:noFill/>
          <a:ln w="12700">
            <a:solidFill>
              <a:srgbClr val="E7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772400" y="1371600"/>
            <a:ext cx="4114800" cy="4114800"/>
          </a:xfrm>
          <a:prstGeom prst="ellipse">
            <a:avLst/>
          </a:prstGeom>
          <a:solidFill>
            <a:srgbClr val="F5F9FF"/>
          </a:solidFill>
          <a:ln w="25400">
            <a:solidFill>
              <a:srgbClr val="2D74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0" y="2468880"/>
            <a:ext cx="41148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0" b="0">
                <a:solidFill>
                  <a:srgbClr val="2D74BB"/>
                </a:solidFill>
                <a:latin typeface="Source Han Sans"/>
                <a:ea typeface="Source Han Sans"/>
              </a:rPr>
              <a:t>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93776" y="429768"/>
            <a:ext cx="0" cy="457200"/>
          </a:xfrm>
          <a:prstGeom prst="line">
            <a:avLst/>
          </a:prstGeom>
          <a:ln w="38100">
            <a:solidFill>
              <a:srgbClr val="2D74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630936" y="384048"/>
            <a:ext cx="9144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600" b="1">
                <a:solidFill>
                  <a:srgbClr val="2D74BB"/>
                </a:solidFill>
                <a:latin typeface="Source Han Sans"/>
                <a:ea typeface="Source Han Sans"/>
              </a:rPr>
              <a:t>技术演进路线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" y="932688"/>
            <a:ext cx="9144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A7A7A7"/>
                </a:solidFill>
                <a:latin typeface="Source Han Sans"/>
                <a:ea typeface="Source Han Sans"/>
              </a:rPr>
              <a:t>TECH EVOLUTION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93776" y="1252728"/>
            <a:ext cx="10780776" cy="0"/>
          </a:xfrm>
          <a:prstGeom prst="line">
            <a:avLst/>
          </a:prstGeom>
          <a:ln w="9525">
            <a:solidFill>
              <a:srgbClr val="E7E6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H="1">
            <a:off x="642823" y="1755648"/>
            <a:ext cx="509321" cy="0"/>
          </a:xfrm>
          <a:prstGeom prst="line">
            <a:avLst/>
          </a:prstGeom>
          <a:ln w="31750">
            <a:solidFill>
              <a:srgbClr val="2D74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2642615" y="1645919"/>
            <a:ext cx="219456" cy="219456"/>
          </a:xfrm>
          <a:prstGeom prst="ellipse">
            <a:avLst/>
          </a:prstGeom>
          <a:solidFill>
            <a:srgbClr val="2D74BB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432303" y="886968"/>
            <a:ext cx="640080" cy="6400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D74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32303" y="960119"/>
            <a:ext cx="640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400" b="1">
                <a:solidFill>
                  <a:srgbClr val="2D74BB"/>
                </a:solidFill>
                <a:latin typeface="Source Han Sans"/>
                <a:ea typeface="Source Han Sans"/>
              </a:rPr>
              <a:t>01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52143" y="2121408"/>
            <a:ext cx="320040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E3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6463" y="2350008"/>
            <a:ext cx="2651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>
                <a:solidFill>
                  <a:srgbClr val="2D74BB"/>
                </a:solidFill>
                <a:latin typeface="Source Han Sans"/>
                <a:ea typeface="Source Han Sans"/>
              </a:rPr>
              <a:t>基础建设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426463" y="2807208"/>
            <a:ext cx="640080" cy="0"/>
          </a:xfrm>
          <a:prstGeom prst="line">
            <a:avLst/>
          </a:prstGeom>
          <a:ln w="25400">
            <a:solidFill>
              <a:srgbClr val="2D74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426463" y="2944368"/>
            <a:ext cx="265176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595757"/>
                </a:solidFill>
                <a:latin typeface="Source Han Sans"/>
                <a:ea typeface="Source Han Sans"/>
              </a:rPr>
              <a:t>2018-2019：核心引擎研发，完成基础检测能力构建。</a:t>
            </a:r>
          </a:p>
        </p:txBody>
      </p:sp>
      <p:sp>
        <p:nvSpPr>
          <p:cNvPr id="14" name="Oval 13"/>
          <p:cNvSpPr/>
          <p:nvPr/>
        </p:nvSpPr>
        <p:spPr>
          <a:xfrm>
            <a:off x="787755" y="1645919"/>
            <a:ext cx="219456" cy="219456"/>
          </a:xfrm>
          <a:prstGeom prst="ellipse">
            <a:avLst/>
          </a:prstGeom>
          <a:solidFill>
            <a:srgbClr val="2D74BB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77443" y="886968"/>
            <a:ext cx="640080" cy="6400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D74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7443" y="960119"/>
            <a:ext cx="640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400" b="1">
                <a:solidFill>
                  <a:srgbClr val="2D74BB"/>
                </a:solidFill>
                <a:latin typeface="Source Han Sans"/>
                <a:ea typeface="Source Han Sans"/>
              </a:rPr>
              <a:t>02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-702716" y="2121408"/>
            <a:ext cx="320040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E3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-428396" y="2350008"/>
            <a:ext cx="2651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>
                <a:solidFill>
                  <a:srgbClr val="2D74BB"/>
                </a:solidFill>
                <a:latin typeface="Source Han Sans"/>
                <a:ea typeface="Source Han Sans"/>
              </a:rPr>
              <a:t>能力完善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-428396" y="2807208"/>
            <a:ext cx="640079" cy="0"/>
          </a:xfrm>
          <a:prstGeom prst="line">
            <a:avLst/>
          </a:prstGeom>
          <a:ln w="25400">
            <a:solidFill>
              <a:srgbClr val="2D74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-428396" y="2944368"/>
            <a:ext cx="265176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595757"/>
                </a:solidFill>
                <a:latin typeface="Source Han Sans"/>
                <a:ea typeface="Source Han Sans"/>
              </a:rPr>
              <a:t>2020-2021：完善产品矩阵，支持多平台多场景。</a:t>
            </a:r>
          </a:p>
        </p:txBody>
      </p:sp>
      <p:sp>
        <p:nvSpPr>
          <p:cNvPr id="21" name="Oval 20"/>
          <p:cNvSpPr/>
          <p:nvPr/>
        </p:nvSpPr>
        <p:spPr>
          <a:xfrm>
            <a:off x="-1067104" y="1645919"/>
            <a:ext cx="219456" cy="219456"/>
          </a:xfrm>
          <a:prstGeom prst="ellipse">
            <a:avLst/>
          </a:prstGeom>
          <a:solidFill>
            <a:srgbClr val="2D74BB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-1277416" y="886968"/>
            <a:ext cx="640080" cy="6400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D74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-1277416" y="960119"/>
            <a:ext cx="640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400" b="1">
                <a:solidFill>
                  <a:srgbClr val="2D74BB"/>
                </a:solidFill>
                <a:latin typeface="Source Han Sans"/>
                <a:ea typeface="Source Han Sans"/>
              </a:rPr>
              <a:t>03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-2557576" y="2121408"/>
            <a:ext cx="320040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E3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-2283256" y="2350008"/>
            <a:ext cx="2651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>
                <a:solidFill>
                  <a:srgbClr val="2D74BB"/>
                </a:solidFill>
                <a:latin typeface="Source Han Sans"/>
                <a:ea typeface="Source Han Sans"/>
              </a:rPr>
              <a:t>智能升级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-2283256" y="2807208"/>
            <a:ext cx="640080" cy="0"/>
          </a:xfrm>
          <a:prstGeom prst="line">
            <a:avLst/>
          </a:prstGeom>
          <a:ln w="25400">
            <a:solidFill>
              <a:srgbClr val="2D74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-2283256" y="2944368"/>
            <a:ext cx="265176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595757"/>
                </a:solidFill>
                <a:latin typeface="Source Han Sans"/>
                <a:ea typeface="Source Han Sans"/>
              </a:rPr>
              <a:t>2022-2023：AI技术深度融合，检测准确率大幅提升。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93776" y="429768"/>
            <a:ext cx="0" cy="457200"/>
          </a:xfrm>
          <a:prstGeom prst="line">
            <a:avLst/>
          </a:prstGeom>
          <a:ln w="38100">
            <a:solidFill>
              <a:srgbClr val="2D74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630936" y="384048"/>
            <a:ext cx="9144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600" b="1">
                <a:solidFill>
                  <a:srgbClr val="2D74BB"/>
                </a:solidFill>
                <a:latin typeface="Source Han Sans"/>
                <a:ea typeface="Source Han Sans"/>
              </a:rPr>
              <a:t>系统架构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" y="932688"/>
            <a:ext cx="9144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A7A7A7"/>
                </a:solidFill>
                <a:latin typeface="Source Han Sans"/>
                <a:ea typeface="Source Han Sans"/>
              </a:rPr>
              <a:t>SYSTEM ARCHITECTURE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93776" y="1252728"/>
            <a:ext cx="10780776" cy="0"/>
          </a:xfrm>
          <a:prstGeom prst="line">
            <a:avLst/>
          </a:prstGeom>
          <a:ln w="9525">
            <a:solidFill>
              <a:srgbClr val="E7E6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5272887" y="2852927"/>
            <a:ext cx="1645920" cy="1645920"/>
          </a:xfrm>
          <a:prstGeom prst="ellipse">
            <a:avLst/>
          </a:prstGeom>
          <a:solidFill>
            <a:srgbClr val="2D74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72887" y="3310127"/>
            <a:ext cx="1645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>
                <a:solidFill>
                  <a:srgbClr val="FFFFFF"/>
                </a:solidFill>
                <a:latin typeface="Source Han Sans"/>
                <a:ea typeface="Source Han Sans"/>
              </a:rPr>
              <a:t>安全大脑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72887" y="3767327"/>
            <a:ext cx="1645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>
                <a:solidFill>
                  <a:srgbClr val="BEE3FA"/>
                </a:solidFill>
                <a:latin typeface="Source Han Sans"/>
                <a:ea typeface="Source Han Sans"/>
              </a:rPr>
              <a:t>SECURITY BRAIN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6095847" y="1664207"/>
            <a:ext cx="0" cy="2011680"/>
          </a:xfrm>
          <a:prstGeom prst="line">
            <a:avLst/>
          </a:prstGeom>
          <a:ln w="19050">
            <a:solidFill>
              <a:srgbClr val="BEE3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5592927" y="1161287"/>
            <a:ext cx="1005840" cy="10058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D74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92927" y="1252727"/>
            <a:ext cx="10058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400" b="1">
                <a:solidFill>
                  <a:srgbClr val="2D74BB"/>
                </a:solidFill>
                <a:latin typeface="Source Han Sans"/>
                <a:ea typeface="Source Han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81447" y="841247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1">
                <a:solidFill>
                  <a:srgbClr val="2D74BB"/>
                </a:solidFill>
                <a:latin typeface="Source Han Sans"/>
                <a:ea typeface="Source Han Sans"/>
              </a:rPr>
              <a:t>数据采集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6095847" y="2670047"/>
            <a:ext cx="1742166" cy="1005840"/>
          </a:xfrm>
          <a:prstGeom prst="line">
            <a:avLst/>
          </a:prstGeom>
          <a:ln w="19050">
            <a:solidFill>
              <a:srgbClr val="BEE3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7335093" y="2167127"/>
            <a:ext cx="1005840" cy="10058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D74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35093" y="2258567"/>
            <a:ext cx="10058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400" b="1">
                <a:solidFill>
                  <a:srgbClr val="2D74BB"/>
                </a:solidFill>
                <a:latin typeface="Source Han Sans"/>
                <a:ea typeface="Source Han Sans"/>
              </a:rPr>
              <a:t>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23613" y="1847087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1">
                <a:solidFill>
                  <a:srgbClr val="2D74BB"/>
                </a:solidFill>
                <a:latin typeface="Source Han Sans"/>
                <a:ea typeface="Source Han Sans"/>
              </a:rPr>
              <a:t>智能分析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095847" y="3675887"/>
            <a:ext cx="1742166" cy="1005840"/>
          </a:xfrm>
          <a:prstGeom prst="line">
            <a:avLst/>
          </a:prstGeom>
          <a:ln w="19050">
            <a:solidFill>
              <a:srgbClr val="BEE3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7335093" y="4178807"/>
            <a:ext cx="1005840" cy="10058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D74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35093" y="4270247"/>
            <a:ext cx="10058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400" b="1">
                <a:solidFill>
                  <a:srgbClr val="2D74BB"/>
                </a:solidFill>
                <a:latin typeface="Source Han Sans"/>
                <a:ea typeface="Source Han Sans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23613" y="5230367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1">
                <a:solidFill>
                  <a:srgbClr val="2D74BB"/>
                </a:solidFill>
                <a:latin typeface="Source Han Sans"/>
                <a:ea typeface="Source Han Sans"/>
              </a:rPr>
              <a:t>威胁检测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095847" y="3675887"/>
            <a:ext cx="0" cy="2011681"/>
          </a:xfrm>
          <a:prstGeom prst="line">
            <a:avLst/>
          </a:prstGeom>
          <a:ln w="19050">
            <a:solidFill>
              <a:srgbClr val="BEE3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5592927" y="5184648"/>
            <a:ext cx="1005840" cy="10058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D74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92927" y="5276088"/>
            <a:ext cx="10058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400" b="1">
                <a:solidFill>
                  <a:srgbClr val="2D74BB"/>
                </a:solidFill>
                <a:latin typeface="Source Han Sans"/>
                <a:ea typeface="Source Han Sans"/>
              </a:rPr>
              <a:t>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81447" y="6236207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1">
                <a:solidFill>
                  <a:srgbClr val="2D74BB"/>
                </a:solidFill>
                <a:latin typeface="Source Han Sans"/>
                <a:ea typeface="Source Han Sans"/>
              </a:rPr>
              <a:t>自动响应</a:t>
            </a:r>
          </a:p>
        </p:txBody>
      </p:sp>
      <p:cxnSp>
        <p:nvCxnSpPr>
          <p:cNvPr id="25" name="Connector 24"/>
          <p:cNvCxnSpPr/>
          <p:nvPr/>
        </p:nvCxnSpPr>
        <p:spPr>
          <a:xfrm flipH="1">
            <a:off x="4353681" y="3675887"/>
            <a:ext cx="1742166" cy="1005841"/>
          </a:xfrm>
          <a:prstGeom prst="line">
            <a:avLst/>
          </a:prstGeom>
          <a:ln w="19050">
            <a:solidFill>
              <a:srgbClr val="BEE3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3850761" y="4178808"/>
            <a:ext cx="1005840" cy="10058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D74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850761" y="4270248"/>
            <a:ext cx="10058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400" b="1">
                <a:solidFill>
                  <a:srgbClr val="2D74BB"/>
                </a:solidFill>
                <a:latin typeface="Source Han Sans"/>
                <a:ea typeface="Source Han Sans"/>
              </a:rPr>
              <a:t>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39281" y="5230368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1">
                <a:solidFill>
                  <a:srgbClr val="2D74BB"/>
                </a:solidFill>
                <a:latin typeface="Source Han Sans"/>
                <a:ea typeface="Source Han Sans"/>
              </a:rPr>
              <a:t>可视化</a:t>
            </a:r>
          </a:p>
        </p:txBody>
      </p:sp>
      <p:cxnSp>
        <p:nvCxnSpPr>
          <p:cNvPr id="29" name="Connector 28"/>
          <p:cNvCxnSpPr/>
          <p:nvPr/>
        </p:nvCxnSpPr>
        <p:spPr>
          <a:xfrm flipH="1" flipV="1">
            <a:off x="4353681" y="2670048"/>
            <a:ext cx="1742166" cy="1005839"/>
          </a:xfrm>
          <a:prstGeom prst="line">
            <a:avLst/>
          </a:prstGeom>
          <a:ln w="19050">
            <a:solidFill>
              <a:srgbClr val="BEE3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3850761" y="2167128"/>
            <a:ext cx="1005840" cy="10058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D74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50761" y="2258568"/>
            <a:ext cx="10058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400" b="1">
                <a:solidFill>
                  <a:srgbClr val="2D74BB"/>
                </a:solidFill>
                <a:latin typeface="Source Han Sans"/>
                <a:ea typeface="Source Han Sans"/>
              </a:rPr>
              <a:t>⑥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39281" y="1847088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1">
                <a:solidFill>
                  <a:srgbClr val="2D74BB"/>
                </a:solidFill>
                <a:latin typeface="Source Han Sans"/>
                <a:ea typeface="Source Han Sans"/>
              </a:rPr>
              <a:t>开放API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93776" y="429768"/>
            <a:ext cx="0" cy="457200"/>
          </a:xfrm>
          <a:prstGeom prst="line">
            <a:avLst/>
          </a:prstGeom>
          <a:ln w="38100">
            <a:solidFill>
              <a:srgbClr val="2D74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630936" y="384048"/>
            <a:ext cx="9144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600" b="1">
                <a:solidFill>
                  <a:srgbClr val="2D74BB"/>
                </a:solidFill>
                <a:latin typeface="Source Han Sans"/>
                <a:ea typeface="Source Han Sans"/>
              </a:rPr>
              <a:t>工作流程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" y="932688"/>
            <a:ext cx="9144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A7A7A7"/>
                </a:solidFill>
                <a:latin typeface="Source Han Sans"/>
                <a:ea typeface="Source Han Sans"/>
              </a:rPr>
              <a:t>WORKFLOW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93776" y="1252728"/>
            <a:ext cx="10780776" cy="0"/>
          </a:xfrm>
          <a:prstGeom prst="line">
            <a:avLst/>
          </a:prstGeom>
          <a:ln w="9525">
            <a:solidFill>
              <a:srgbClr val="E7E6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18007" y="2761488"/>
            <a:ext cx="1645920" cy="1645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D74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20927" y="2441448"/>
            <a:ext cx="640080" cy="640080"/>
          </a:xfrm>
          <a:prstGeom prst="ellipse">
            <a:avLst/>
          </a:prstGeom>
          <a:solidFill>
            <a:srgbClr val="2D74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0927" y="2532888"/>
            <a:ext cx="6400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1">
                <a:solidFill>
                  <a:srgbClr val="FFFFFF"/>
                </a:solidFill>
                <a:latin typeface="Source Han Sans"/>
                <a:ea typeface="Source Han San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8007" y="3218688"/>
            <a:ext cx="1645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1">
                <a:solidFill>
                  <a:srgbClr val="2D74BB"/>
                </a:solidFill>
                <a:latin typeface="Source Han Sans"/>
                <a:ea typeface="Source Han Sans"/>
              </a:rPr>
              <a:t>应用上传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92327" y="3630168"/>
            <a:ext cx="1097280" cy="0"/>
          </a:xfrm>
          <a:prstGeom prst="line">
            <a:avLst/>
          </a:prstGeom>
          <a:ln w="6350">
            <a:solidFill>
              <a:srgbClr val="E7E6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00887" y="3767328"/>
            <a:ext cx="1280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>
                <a:solidFill>
                  <a:srgbClr val="595757"/>
                </a:solidFill>
                <a:latin typeface="Source Han Sans"/>
                <a:ea typeface="Source Han Sans"/>
              </a:rPr>
              <a:t>提交应用进行检测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55367" y="347472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2400" b="0">
                <a:solidFill>
                  <a:srgbClr val="2D74BB"/>
                </a:solidFill>
                <a:latin typeface="Source Han Sans"/>
                <a:ea typeface="Source Han San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95447" y="2761488"/>
            <a:ext cx="1645920" cy="1645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D74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398367" y="2441448"/>
            <a:ext cx="640080" cy="640080"/>
          </a:xfrm>
          <a:prstGeom prst="ellipse">
            <a:avLst/>
          </a:prstGeom>
          <a:solidFill>
            <a:srgbClr val="2D74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98367" y="2532888"/>
            <a:ext cx="6400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1">
                <a:solidFill>
                  <a:srgbClr val="FFFFFF"/>
                </a:solidFill>
                <a:latin typeface="Source Han Sans"/>
                <a:ea typeface="Source Han Sans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95447" y="3218688"/>
            <a:ext cx="1645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1">
                <a:solidFill>
                  <a:srgbClr val="2D74BB"/>
                </a:solidFill>
                <a:latin typeface="Source Han Sans"/>
                <a:ea typeface="Source Han Sans"/>
              </a:rPr>
              <a:t>安全检测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169767" y="3630168"/>
            <a:ext cx="1097280" cy="0"/>
          </a:xfrm>
          <a:prstGeom prst="line">
            <a:avLst/>
          </a:prstGeom>
          <a:ln w="6350">
            <a:solidFill>
              <a:srgbClr val="E7E6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3078327" y="3767328"/>
            <a:ext cx="1280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>
                <a:solidFill>
                  <a:srgbClr val="595757"/>
                </a:solidFill>
                <a:latin typeface="Source Han Sans"/>
                <a:ea typeface="Source Han Sans"/>
              </a:rPr>
              <a:t>多引擎深度扫描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32807" y="347472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2400" b="0">
                <a:solidFill>
                  <a:srgbClr val="2D74BB"/>
                </a:solidFill>
                <a:latin typeface="Source Han Sans"/>
                <a:ea typeface="Source Han Sans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272887" y="2761488"/>
            <a:ext cx="1645920" cy="1645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D74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75807" y="2441448"/>
            <a:ext cx="640080" cy="640080"/>
          </a:xfrm>
          <a:prstGeom prst="ellipse">
            <a:avLst/>
          </a:prstGeom>
          <a:solidFill>
            <a:srgbClr val="2D74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75807" y="2532888"/>
            <a:ext cx="6400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1">
                <a:solidFill>
                  <a:srgbClr val="FFFFFF"/>
                </a:solidFill>
                <a:latin typeface="Source Han Sans"/>
                <a:ea typeface="Source Han Sans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72887" y="3218688"/>
            <a:ext cx="1645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1">
                <a:solidFill>
                  <a:srgbClr val="2D74BB"/>
                </a:solidFill>
                <a:latin typeface="Source Han Sans"/>
                <a:ea typeface="Source Han Sans"/>
              </a:rPr>
              <a:t>报告生成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547207" y="3630168"/>
            <a:ext cx="1097280" cy="0"/>
          </a:xfrm>
          <a:prstGeom prst="line">
            <a:avLst/>
          </a:prstGeom>
          <a:ln w="6350">
            <a:solidFill>
              <a:srgbClr val="E7E6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455767" y="3767328"/>
            <a:ext cx="1280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>
                <a:solidFill>
                  <a:srgbClr val="595757"/>
                </a:solidFill>
                <a:latin typeface="Source Han Sans"/>
                <a:ea typeface="Source Han Sans"/>
              </a:rPr>
              <a:t>输出详细检测报告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10247" y="347472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2400" b="0">
                <a:solidFill>
                  <a:srgbClr val="2D74BB"/>
                </a:solidFill>
                <a:latin typeface="Source Han Sans"/>
                <a:ea typeface="Source Han Sans"/>
              </a:rP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650327" y="2761488"/>
            <a:ext cx="1645920" cy="1645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D74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153247" y="2441448"/>
            <a:ext cx="640080" cy="640080"/>
          </a:xfrm>
          <a:prstGeom prst="ellipse">
            <a:avLst/>
          </a:prstGeom>
          <a:solidFill>
            <a:srgbClr val="2D74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53247" y="2532888"/>
            <a:ext cx="6400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1">
                <a:solidFill>
                  <a:srgbClr val="FFFFFF"/>
                </a:solidFill>
                <a:latin typeface="Source Han Sans"/>
                <a:ea typeface="Source Han Sans"/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50327" y="3218688"/>
            <a:ext cx="1645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1">
                <a:solidFill>
                  <a:srgbClr val="2D74BB"/>
                </a:solidFill>
                <a:latin typeface="Source Han Sans"/>
                <a:ea typeface="Source Han Sans"/>
              </a:rPr>
              <a:t>一键加固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7924647" y="3630168"/>
            <a:ext cx="1097280" cy="0"/>
          </a:xfrm>
          <a:prstGeom prst="line">
            <a:avLst/>
          </a:prstGeom>
          <a:ln w="6350">
            <a:solidFill>
              <a:srgbClr val="E7E6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7833207" y="3767328"/>
            <a:ext cx="1280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>
                <a:solidFill>
                  <a:srgbClr val="595757"/>
                </a:solidFill>
                <a:latin typeface="Source Han Sans"/>
                <a:ea typeface="Source Han Sans"/>
              </a:rPr>
              <a:t>自动应用安全加固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87687" y="347472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2400" b="0">
                <a:solidFill>
                  <a:srgbClr val="2D74BB"/>
                </a:solidFill>
                <a:latin typeface="Source Han Sans"/>
                <a:ea typeface="Source Han Sans"/>
              </a:rPr>
              <a:t>→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027767" y="2761488"/>
            <a:ext cx="1645920" cy="1645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D74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0530687" y="2441448"/>
            <a:ext cx="640080" cy="640080"/>
          </a:xfrm>
          <a:prstGeom prst="ellipse">
            <a:avLst/>
          </a:prstGeom>
          <a:solidFill>
            <a:srgbClr val="2D74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530687" y="2532888"/>
            <a:ext cx="6400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1">
                <a:solidFill>
                  <a:srgbClr val="FFFFFF"/>
                </a:solidFill>
                <a:latin typeface="Source Han Sans"/>
                <a:ea typeface="Source Han Sans"/>
              </a:rPr>
              <a:t>05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27767" y="3218688"/>
            <a:ext cx="1645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1">
                <a:solidFill>
                  <a:srgbClr val="2D74BB"/>
                </a:solidFill>
                <a:latin typeface="Source Han Sans"/>
                <a:ea typeface="Source Han Sans"/>
              </a:rPr>
              <a:t>上线监测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10302087" y="3630168"/>
            <a:ext cx="1097280" cy="0"/>
          </a:xfrm>
          <a:prstGeom prst="line">
            <a:avLst/>
          </a:prstGeom>
          <a:ln w="6350">
            <a:solidFill>
              <a:srgbClr val="E7E6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10210647" y="3767328"/>
            <a:ext cx="1280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>
                <a:solidFill>
                  <a:srgbClr val="595757"/>
                </a:solidFill>
                <a:latin typeface="Source Han Sans"/>
                <a:ea typeface="Source Han Sans"/>
              </a:rPr>
              <a:t>运行态持续监控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93776" y="1828800"/>
            <a:ext cx="0" cy="1097280"/>
          </a:xfrm>
          <a:prstGeom prst="line">
            <a:avLst/>
          </a:prstGeom>
          <a:ln w="50800">
            <a:solidFill>
              <a:srgbClr val="2D74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630936" y="164592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A7A7A7"/>
                </a:solidFill>
                <a:latin typeface="Source Han Sans"/>
                <a:ea typeface="Source Han Sans"/>
              </a:rPr>
              <a:t>PART THREE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93776" y="2011680"/>
            <a:ext cx="27432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600" b="1">
                <a:solidFill>
                  <a:srgbClr val="2D74BB"/>
                </a:solidFill>
                <a:latin typeface="Source Han Sans"/>
                <a:ea typeface="Source Han Sans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3200400"/>
            <a:ext cx="5029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600" b="1">
                <a:solidFill>
                  <a:srgbClr val="2D74BB"/>
                </a:solidFill>
                <a:latin typeface="Source Han Sans"/>
                <a:ea typeface="Source Han Sans"/>
              </a:rPr>
              <a:t>成果展示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384048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A7A7A7"/>
                </a:solidFill>
                <a:latin typeface="Source Han Sans"/>
                <a:ea typeface="Source Han Sans"/>
              </a:rPr>
              <a:t>ACHIEVEMENTS &amp; DATA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2D74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498079" y="1097280"/>
            <a:ext cx="4663440" cy="4663440"/>
          </a:xfrm>
          <a:prstGeom prst="ellipse">
            <a:avLst/>
          </a:prstGeom>
          <a:noFill/>
          <a:ln w="12700">
            <a:solidFill>
              <a:srgbClr val="E7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772400" y="1371600"/>
            <a:ext cx="4114800" cy="4114800"/>
          </a:xfrm>
          <a:prstGeom prst="ellipse">
            <a:avLst/>
          </a:prstGeom>
          <a:solidFill>
            <a:srgbClr val="F5F9FF"/>
          </a:solidFill>
          <a:ln w="25400">
            <a:solidFill>
              <a:srgbClr val="2D74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0" y="2468880"/>
            <a:ext cx="41148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0" b="0">
                <a:solidFill>
                  <a:srgbClr val="2D74BB"/>
                </a:solidFill>
                <a:latin typeface="Source Han Sans"/>
                <a:ea typeface="Source Han Sans"/>
              </a:rPr>
              <a:t>👤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93776" y="429768"/>
            <a:ext cx="0" cy="457200"/>
          </a:xfrm>
          <a:prstGeom prst="line">
            <a:avLst/>
          </a:prstGeom>
          <a:ln w="38100">
            <a:solidFill>
              <a:srgbClr val="2D74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630936" y="384048"/>
            <a:ext cx="9144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600" b="1">
                <a:solidFill>
                  <a:srgbClr val="2D74BB"/>
                </a:solidFill>
                <a:latin typeface="Source Han Sans"/>
                <a:ea typeface="Source Han Sans"/>
              </a:rPr>
              <a:t>年度数据概览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" y="932688"/>
            <a:ext cx="9144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A7A7A7"/>
                </a:solidFill>
                <a:latin typeface="Source Han Sans"/>
                <a:ea typeface="Source Han Sans"/>
              </a:rPr>
              <a:t>ANNUAL DATA REVIEW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93776" y="1252728"/>
            <a:ext cx="10780776" cy="0"/>
          </a:xfrm>
          <a:prstGeom prst="line">
            <a:avLst/>
          </a:prstGeom>
          <a:ln w="9525">
            <a:solidFill>
              <a:srgbClr val="E7E6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94944" y="1481328"/>
            <a:ext cx="2560320" cy="1005840"/>
          </a:xfrm>
          <a:prstGeom prst="roundRect">
            <a:avLst/>
          </a:prstGeom>
          <a:solidFill>
            <a:srgbClr val="F8FAFD"/>
          </a:solidFill>
          <a:ln w="12700">
            <a:solidFill>
              <a:srgbClr val="E0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94944" y="1618488"/>
            <a:ext cx="54864" cy="731520"/>
          </a:xfrm>
          <a:prstGeom prst="rect">
            <a:avLst/>
          </a:prstGeom>
          <a:solidFill>
            <a:srgbClr val="2D74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3544" y="1572768"/>
            <a:ext cx="224027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600" b="1">
                <a:solidFill>
                  <a:srgbClr val="2D74BB"/>
                </a:solidFill>
                <a:latin typeface="Source Han Sans"/>
                <a:ea typeface="Source Han Sans"/>
              </a:rPr>
              <a:t>99.9%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2075688"/>
            <a:ext cx="224027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595757"/>
                </a:solidFill>
                <a:latin typeface="Source Han Sans"/>
                <a:ea typeface="Source Han Sans"/>
              </a:rPr>
              <a:t>检测准确率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92424" y="1481328"/>
            <a:ext cx="2560320" cy="1005840"/>
          </a:xfrm>
          <a:prstGeom prst="roundRect">
            <a:avLst/>
          </a:prstGeom>
          <a:solidFill>
            <a:srgbClr val="F8FAFD"/>
          </a:solidFill>
          <a:ln w="12700">
            <a:solidFill>
              <a:srgbClr val="E0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92424" y="1618488"/>
            <a:ext cx="54864" cy="731520"/>
          </a:xfrm>
          <a:prstGeom prst="rect">
            <a:avLst/>
          </a:prstGeom>
          <a:solidFill>
            <a:srgbClr val="2D74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21024" y="1572768"/>
            <a:ext cx="224027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600" b="1">
                <a:solidFill>
                  <a:srgbClr val="2D74BB"/>
                </a:solidFill>
                <a:latin typeface="Source Han Sans"/>
                <a:ea typeface="Source Han Sans"/>
              </a:rPr>
              <a:t>500+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21024" y="2075688"/>
            <a:ext cx="224027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595757"/>
                </a:solidFill>
                <a:latin typeface="Source Han Sans"/>
                <a:ea typeface="Source Han Sans"/>
              </a:rPr>
              <a:t>服务企业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89903" y="1481328"/>
            <a:ext cx="2560320" cy="1005840"/>
          </a:xfrm>
          <a:prstGeom prst="roundRect">
            <a:avLst/>
          </a:prstGeom>
          <a:solidFill>
            <a:srgbClr val="F8FAFD"/>
          </a:solidFill>
          <a:ln w="12700">
            <a:solidFill>
              <a:srgbClr val="E0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89903" y="1618488"/>
            <a:ext cx="54864" cy="731520"/>
          </a:xfrm>
          <a:prstGeom prst="rect">
            <a:avLst/>
          </a:prstGeom>
          <a:solidFill>
            <a:srgbClr val="2D74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18503" y="1572768"/>
            <a:ext cx="224027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600" b="1">
                <a:solidFill>
                  <a:srgbClr val="2D74BB"/>
                </a:solidFill>
                <a:latin typeface="Source Han Sans"/>
                <a:ea typeface="Source Han Sans"/>
              </a:rPr>
              <a:t>10亿次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18503" y="2075688"/>
            <a:ext cx="224027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595757"/>
                </a:solidFill>
                <a:latin typeface="Source Han Sans"/>
                <a:ea typeface="Source Han Sans"/>
              </a:rPr>
              <a:t>累计检测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787384" y="1481328"/>
            <a:ext cx="2560320" cy="1005840"/>
          </a:xfrm>
          <a:prstGeom prst="roundRect">
            <a:avLst/>
          </a:prstGeom>
          <a:solidFill>
            <a:srgbClr val="F8FAFD"/>
          </a:solidFill>
          <a:ln w="12700">
            <a:solidFill>
              <a:srgbClr val="E0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787384" y="1618488"/>
            <a:ext cx="54864" cy="731520"/>
          </a:xfrm>
          <a:prstGeom prst="rect">
            <a:avLst/>
          </a:prstGeom>
          <a:solidFill>
            <a:srgbClr val="2D74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15984" y="1572768"/>
            <a:ext cx="224027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600" b="1">
                <a:solidFill>
                  <a:srgbClr val="2D74BB"/>
                </a:solidFill>
                <a:latin typeface="Source Han Sans"/>
                <a:ea typeface="Source Han Sans"/>
              </a:rPr>
              <a:t>5min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15984" y="2075688"/>
            <a:ext cx="224027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595757"/>
                </a:solidFill>
                <a:latin typeface="Source Han Sans"/>
                <a:ea typeface="Source Han Sans"/>
              </a:rPr>
              <a:t>响应时间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94944" y="2761488"/>
            <a:ext cx="5943600" cy="2926080"/>
          </a:xfrm>
          <a:prstGeom prst="roundRect">
            <a:avLst/>
          </a:prstGeom>
          <a:solidFill>
            <a:srgbClr val="F8FAFD"/>
          </a:solidFill>
          <a:ln w="12700">
            <a:solidFill>
              <a:srgbClr val="E0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9264" y="2898648"/>
            <a:ext cx="5394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2D74BB"/>
                </a:solidFill>
                <a:latin typeface="Source Han Sans"/>
                <a:ea typeface="Source Han Sans"/>
              </a:rPr>
              <a:t>2024年安全事件趋势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52144" y="4956048"/>
            <a:ext cx="365760" cy="365760"/>
          </a:xfrm>
          <a:prstGeom prst="roundRect">
            <a:avLst/>
          </a:prstGeom>
          <a:solidFill>
            <a:srgbClr val="2D74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2318004" y="4681728"/>
            <a:ext cx="365760" cy="640080"/>
          </a:xfrm>
          <a:prstGeom prst="round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483863" y="4407408"/>
            <a:ext cx="365760" cy="914400"/>
          </a:xfrm>
          <a:prstGeom prst="roundRect">
            <a:avLst/>
          </a:prstGeom>
          <a:solidFill>
            <a:srgbClr val="2D74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649724" y="4133088"/>
            <a:ext cx="365760" cy="1188719"/>
          </a:xfrm>
          <a:prstGeom prst="round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815583" y="3858768"/>
            <a:ext cx="365760" cy="1463040"/>
          </a:xfrm>
          <a:prstGeom prst="roundRect">
            <a:avLst/>
          </a:prstGeom>
          <a:solidFill>
            <a:srgbClr val="2D74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969264" y="5321808"/>
            <a:ext cx="5394960" cy="0"/>
          </a:xfrm>
          <a:prstGeom prst="line">
            <a:avLst/>
          </a:prstGeom>
          <a:ln w="9525">
            <a:solidFill>
              <a:srgbClr val="D0D8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7004304" y="2761488"/>
            <a:ext cx="-590428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278624" y="2990088"/>
            <a:ext cx="-6452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>
                <a:solidFill>
                  <a:srgbClr val="2D74BB"/>
                </a:solidFill>
                <a:latin typeface="Source Han Sans"/>
                <a:ea typeface="Source Han Sans"/>
              </a:rPr>
              <a:t>核心发现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7278624" y="3447288"/>
            <a:ext cx="640080" cy="0"/>
          </a:xfrm>
          <a:prstGeom prst="line">
            <a:avLst/>
          </a:prstGeom>
          <a:ln w="25400">
            <a:solidFill>
              <a:srgbClr val="2D74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7278624" y="3584448"/>
            <a:ext cx="-6452920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595757"/>
                </a:solidFill>
                <a:latin typeface="Source Han Sans"/>
                <a:ea typeface="Source Han Sans"/>
              </a:rPr>
              <a:t>本年度安全防护成效显著：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595757"/>
                </a:solidFill>
                <a:latin typeface="Source Han Sans"/>
                <a:ea typeface="Source Han Sans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595757"/>
                </a:solidFill>
                <a:latin typeface="Source Han Sans"/>
                <a:ea typeface="Source Han Sans"/>
              </a:rPr>
              <a:t>• 攻击拦截量同比+45%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595757"/>
                </a:solidFill>
                <a:latin typeface="Source Han Sans"/>
                <a:ea typeface="Source Han Sans"/>
              </a:rPr>
              <a:t>• 客户满意度达98%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595757"/>
                </a:solidFill>
                <a:latin typeface="Source Han Sans"/>
                <a:ea typeface="Source Han Sans"/>
              </a:rPr>
              <a:t>• 零重大安全事故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595757"/>
                </a:solidFill>
                <a:latin typeface="Source Han Sans"/>
                <a:ea typeface="Source Han Sans"/>
              </a:rPr>
              <a:t>• 威胁响应时间-60%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93776" y="429768"/>
            <a:ext cx="0" cy="457200"/>
          </a:xfrm>
          <a:prstGeom prst="line">
            <a:avLst/>
          </a:prstGeom>
          <a:ln w="38100">
            <a:solidFill>
              <a:srgbClr val="2D74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630936" y="384048"/>
            <a:ext cx="9144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600" b="1">
                <a:solidFill>
                  <a:srgbClr val="2D74BB"/>
                </a:solidFill>
                <a:latin typeface="Source Han Sans"/>
                <a:ea typeface="Source Han Sans"/>
              </a:rPr>
              <a:t>关键指标对比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" y="932688"/>
            <a:ext cx="9144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A7A7A7"/>
                </a:solidFill>
                <a:latin typeface="Source Han Sans"/>
                <a:ea typeface="Source Han Sans"/>
              </a:rPr>
              <a:t>KEY METRICS COMPARISON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93776" y="1252728"/>
            <a:ext cx="10780776" cy="0"/>
          </a:xfrm>
          <a:prstGeom prst="line">
            <a:avLst/>
          </a:prstGeom>
          <a:ln w="9525">
            <a:solidFill>
              <a:srgbClr val="E7E6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94944" y="1664208"/>
          <a:ext cx="405079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269"/>
                <a:gridCol w="101269"/>
                <a:gridCol w="101269"/>
                <a:gridCol w="101272"/>
              </a:tblGrid>
              <a:tr h="68580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2D74BB"/>
                          </a:solidFill>
                          <a:latin typeface="Source Han Sans"/>
                          <a:ea typeface="Source Han Sans"/>
                        </a:rPr>
                        <a:t>指标</a:t>
                      </a:r>
                    </a:p>
                  </a:txBody>
                  <a:tcPr>
                    <a:solidFill>
                      <a:srgbClr val="2D74B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2D74BB"/>
                          </a:solidFill>
                          <a:latin typeface="Source Han Sans"/>
                          <a:ea typeface="Source Han Sans"/>
                        </a:rPr>
                        <a:t>2023年</a:t>
                      </a:r>
                    </a:p>
                  </a:txBody>
                  <a:tcPr>
                    <a:solidFill>
                      <a:srgbClr val="2D74B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2D74BB"/>
                          </a:solidFill>
                          <a:latin typeface="Source Han Sans"/>
                          <a:ea typeface="Source Han Sans"/>
                        </a:rPr>
                        <a:t>2024年</a:t>
                      </a:r>
                    </a:p>
                  </a:txBody>
                  <a:tcPr>
                    <a:solidFill>
                      <a:srgbClr val="2D74B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2D74BB"/>
                          </a:solidFill>
                          <a:latin typeface="Source Han Sans"/>
                          <a:ea typeface="Source Han Sans"/>
                        </a:rPr>
                        <a:t>同比变化</a:t>
                      </a:r>
                    </a:p>
                  </a:txBody>
                  <a:tcPr>
                    <a:solidFill>
                      <a:srgbClr val="2D74BB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595757"/>
                          </a:solidFill>
                          <a:latin typeface="Source Han Sans"/>
                          <a:ea typeface="Source Han Sans"/>
                        </a:rPr>
                        <a:t>检测准确率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595757"/>
                          </a:solidFill>
                          <a:latin typeface="Source Han Sans"/>
                          <a:ea typeface="Source Han Sans"/>
                        </a:rPr>
                        <a:t>95%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595757"/>
                          </a:solidFill>
                          <a:latin typeface="Source Han Sans"/>
                          <a:ea typeface="Source Han Sans"/>
                        </a:rPr>
                        <a:t>99.9%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595757"/>
                          </a:solidFill>
                          <a:latin typeface="Source Han Sans"/>
                          <a:ea typeface="Source Han Sans"/>
                        </a:rPr>
                        <a:t>+4.9%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595757"/>
                          </a:solidFill>
                          <a:latin typeface="Source Han Sans"/>
                          <a:ea typeface="Source Han Sans"/>
                        </a:rPr>
                        <a:t>响应时间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595757"/>
                          </a:solidFill>
                          <a:latin typeface="Source Han Sans"/>
                          <a:ea typeface="Source Han Sans"/>
                        </a:rPr>
                        <a:t>30min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595757"/>
                          </a:solidFill>
                          <a:latin typeface="Source Han Sans"/>
                          <a:ea typeface="Source Han Sans"/>
                        </a:rPr>
                        <a:t>5min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595757"/>
                          </a:solidFill>
                          <a:latin typeface="Source Han Sans"/>
                          <a:ea typeface="Source Han Sans"/>
                        </a:rPr>
                        <a:t>-83%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595757"/>
                          </a:solidFill>
                          <a:latin typeface="Source Han Sans"/>
                          <a:ea typeface="Source Han Sans"/>
                        </a:rPr>
                        <a:t>服务客户数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595757"/>
                          </a:solidFill>
                          <a:latin typeface="Source Han Sans"/>
                          <a:ea typeface="Source Han Sans"/>
                        </a:rPr>
                        <a:t>300家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595757"/>
                          </a:solidFill>
                          <a:latin typeface="Source Han Sans"/>
                          <a:ea typeface="Source Han Sans"/>
                        </a:rPr>
                        <a:t>500家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595757"/>
                          </a:solidFill>
                          <a:latin typeface="Source Han Sans"/>
                          <a:ea typeface="Source Han Sans"/>
                        </a:rPr>
                        <a:t>+67%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595757"/>
                          </a:solidFill>
                          <a:latin typeface="Source Han Sans"/>
                          <a:ea typeface="Source Han Sans"/>
                        </a:rPr>
                        <a:t>误报率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595757"/>
                          </a:solidFill>
                          <a:latin typeface="Source Han Sans"/>
                          <a:ea typeface="Source Han Sans"/>
                        </a:rPr>
                        <a:t>5%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595757"/>
                          </a:solidFill>
                          <a:latin typeface="Source Han Sans"/>
                          <a:ea typeface="Source Han Sans"/>
                        </a:rPr>
                        <a:t>0.5%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595757"/>
                          </a:solidFill>
                          <a:latin typeface="Source Han Sans"/>
                          <a:ea typeface="Source Han Sans"/>
                        </a:rPr>
                        <a:t>-90%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595757"/>
                          </a:solidFill>
                          <a:latin typeface="Source Han Sans"/>
                          <a:ea typeface="Source Han Sans"/>
                        </a:rPr>
                        <a:t>系统可用性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595757"/>
                          </a:solidFill>
                          <a:latin typeface="Source Han Sans"/>
                          <a:ea typeface="Source Han Sans"/>
                        </a:rPr>
                        <a:t>99.5%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595757"/>
                          </a:solidFill>
                          <a:latin typeface="Source Han Sans"/>
                          <a:ea typeface="Source Han Sans"/>
                        </a:rPr>
                        <a:t>99.99%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595757"/>
                          </a:solidFill>
                          <a:latin typeface="Source Han Sans"/>
                          <a:ea typeface="Source Han Sans"/>
                        </a:rPr>
                        <a:t>+0.49%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93776" y="429768"/>
            <a:ext cx="0" cy="457200"/>
          </a:xfrm>
          <a:prstGeom prst="line">
            <a:avLst/>
          </a:prstGeom>
          <a:ln w="38100">
            <a:solidFill>
              <a:srgbClr val="2D74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630936" y="384048"/>
            <a:ext cx="9144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600" b="1">
                <a:solidFill>
                  <a:srgbClr val="2D74BB"/>
                </a:solidFill>
                <a:latin typeface="Source Han Sans"/>
                <a:ea typeface="Source Han Sans"/>
              </a:rPr>
              <a:t>年度里程碑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" y="932688"/>
            <a:ext cx="9144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A7A7A7"/>
                </a:solidFill>
                <a:latin typeface="Source Han Sans"/>
                <a:ea typeface="Source Han Sans"/>
              </a:rPr>
              <a:t>YEAR MILESTONES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93776" y="1252728"/>
            <a:ext cx="10780776" cy="0"/>
          </a:xfrm>
          <a:prstGeom prst="line">
            <a:avLst/>
          </a:prstGeom>
          <a:ln w="9525">
            <a:solidFill>
              <a:srgbClr val="E7E6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152144" y="1664208"/>
            <a:ext cx="0" cy="4645152"/>
          </a:xfrm>
          <a:prstGeom prst="line">
            <a:avLst/>
          </a:prstGeom>
          <a:ln w="19050">
            <a:solidFill>
              <a:srgbClr val="BEE3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078992" y="2055571"/>
            <a:ext cx="146304" cy="14630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D74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24712" y="2101291"/>
            <a:ext cx="54864" cy="54864"/>
          </a:xfrm>
          <a:prstGeom prst="ellipse">
            <a:avLst/>
          </a:prstGeom>
          <a:solidFill>
            <a:srgbClr val="2D74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35024" y="1900123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2D74BB"/>
                </a:solidFill>
                <a:latin typeface="Source Han Sans"/>
                <a:ea typeface="Source Han Sans"/>
              </a:rPr>
              <a:t>2024.Q1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75104" y="1900123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>
                <a:solidFill>
                  <a:srgbClr val="2D74BB"/>
                </a:solidFill>
                <a:latin typeface="Source Han Sans"/>
                <a:ea typeface="Source Han Sans"/>
              </a:rPr>
              <a:t>产品升级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75104" y="2201875"/>
            <a:ext cx="3200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595757"/>
                </a:solidFill>
                <a:latin typeface="Source Han Sans"/>
                <a:ea typeface="Source Han Sans"/>
              </a:rPr>
              <a:t>V3.0版本发布，AI引擎升级。</a:t>
            </a:r>
          </a:p>
        </p:txBody>
      </p:sp>
      <p:sp>
        <p:nvSpPr>
          <p:cNvPr id="12" name="Oval 11"/>
          <p:cNvSpPr/>
          <p:nvPr/>
        </p:nvSpPr>
        <p:spPr>
          <a:xfrm>
            <a:off x="1078992" y="2984601"/>
            <a:ext cx="146304" cy="14630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D74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24712" y="3030321"/>
            <a:ext cx="54864" cy="54864"/>
          </a:xfrm>
          <a:prstGeom prst="ellipse">
            <a:avLst/>
          </a:prstGeom>
          <a:solidFill>
            <a:srgbClr val="2D74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35024" y="2829153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2D74BB"/>
                </a:solidFill>
                <a:latin typeface="Source Han Sans"/>
                <a:ea typeface="Source Han Sans"/>
              </a:rPr>
              <a:t>2024.Q2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75104" y="2829153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>
                <a:solidFill>
                  <a:srgbClr val="2D74BB"/>
                </a:solidFill>
                <a:latin typeface="Source Han Sans"/>
                <a:ea typeface="Source Han Sans"/>
              </a:rPr>
              <a:t>客户突破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75104" y="3130905"/>
            <a:ext cx="3200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595757"/>
                </a:solidFill>
                <a:latin typeface="Source Han Sans"/>
                <a:ea typeface="Source Han Sans"/>
              </a:rPr>
              <a:t>服务企业客户突破400家。</a:t>
            </a:r>
          </a:p>
        </p:txBody>
      </p:sp>
      <p:sp>
        <p:nvSpPr>
          <p:cNvPr id="17" name="Oval 16"/>
          <p:cNvSpPr/>
          <p:nvPr/>
        </p:nvSpPr>
        <p:spPr>
          <a:xfrm>
            <a:off x="1078992" y="3913632"/>
            <a:ext cx="146304" cy="14630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D74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124712" y="3959352"/>
            <a:ext cx="54864" cy="54864"/>
          </a:xfrm>
          <a:prstGeom prst="ellipse">
            <a:avLst/>
          </a:prstGeom>
          <a:solidFill>
            <a:srgbClr val="2D74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35024" y="3758184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2D74BB"/>
                </a:solidFill>
                <a:latin typeface="Source Han Sans"/>
                <a:ea typeface="Source Han Sans"/>
              </a:rPr>
              <a:t>2024.Q3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75104" y="3758184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>
                <a:solidFill>
                  <a:srgbClr val="2D74BB"/>
                </a:solidFill>
                <a:latin typeface="Source Han Sans"/>
                <a:ea typeface="Source Han Sans"/>
              </a:rPr>
              <a:t>技术获奖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75104" y="4059936"/>
            <a:ext cx="3200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595757"/>
                </a:solidFill>
                <a:latin typeface="Source Han Sans"/>
                <a:ea typeface="Source Han Sans"/>
              </a:rPr>
              <a:t>荣获网络安全创新奖。</a:t>
            </a:r>
          </a:p>
        </p:txBody>
      </p:sp>
      <p:sp>
        <p:nvSpPr>
          <p:cNvPr id="22" name="Oval 21"/>
          <p:cNvSpPr/>
          <p:nvPr/>
        </p:nvSpPr>
        <p:spPr>
          <a:xfrm>
            <a:off x="1078992" y="4842662"/>
            <a:ext cx="146304" cy="14630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D74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24712" y="4888382"/>
            <a:ext cx="54864" cy="54864"/>
          </a:xfrm>
          <a:prstGeom prst="ellipse">
            <a:avLst/>
          </a:prstGeom>
          <a:solidFill>
            <a:srgbClr val="2D74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35024" y="4687214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2D74BB"/>
                </a:solidFill>
                <a:latin typeface="Source Han Sans"/>
                <a:ea typeface="Source Han Sans"/>
              </a:rPr>
              <a:t>2024.Q4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75104" y="4687214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>
                <a:solidFill>
                  <a:srgbClr val="2D74BB"/>
                </a:solidFill>
                <a:latin typeface="Source Han Sans"/>
                <a:ea typeface="Source Han Sans"/>
              </a:rPr>
              <a:t>生态完善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75104" y="4988966"/>
            <a:ext cx="3200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595757"/>
                </a:solidFill>
                <a:latin typeface="Source Han Sans"/>
                <a:ea typeface="Source Han Sans"/>
              </a:rPr>
              <a:t>合作伙伴生态初步建成。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83680" y="1572768"/>
            <a:ext cx="4876495" cy="4736592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0" y="3483864"/>
            <a:ext cx="4876495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0">
                <a:solidFill>
                  <a:srgbClr val="99AABB"/>
                </a:solidFill>
                <a:latin typeface="Source Han Sans"/>
                <a:ea typeface="Source Han Sans"/>
              </a:rPr>
              <a:t>📷</a:t>
            </a:r>
          </a:p>
          <a:p>
            <a:pPr algn="ctr">
              <a:lnSpc>
                <a:spcPct val="130000"/>
              </a:lnSpc>
            </a:pPr>
            <a:r>
              <a:rPr sz="1600" b="0">
                <a:solidFill>
                  <a:srgbClr val="99AABB"/>
                </a:solidFill>
                <a:latin typeface="Source Han Sans"/>
                <a:ea typeface="Source Han Sans"/>
              </a:rPr>
              <a:t>配图区域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93776" y="1828800"/>
            <a:ext cx="0" cy="1097280"/>
          </a:xfrm>
          <a:prstGeom prst="line">
            <a:avLst/>
          </a:prstGeom>
          <a:ln w="50800">
            <a:solidFill>
              <a:srgbClr val="2D74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630936" y="164592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A7A7A7"/>
                </a:solidFill>
                <a:latin typeface="Source Han Sans"/>
                <a:ea typeface="Source Han Sans"/>
              </a:rPr>
              <a:t>PART FOUR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93776" y="2011680"/>
            <a:ext cx="27432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600" b="1">
                <a:solidFill>
                  <a:srgbClr val="2D74BB"/>
                </a:solidFill>
                <a:latin typeface="Source Han Sans"/>
                <a:ea typeface="Source Han Sans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3200400"/>
            <a:ext cx="5029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600" b="1">
                <a:solidFill>
                  <a:srgbClr val="2D74BB"/>
                </a:solidFill>
                <a:latin typeface="Source Han Sans"/>
                <a:ea typeface="Source Han Sans"/>
              </a:rPr>
              <a:t>团队介绍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384048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A7A7A7"/>
                </a:solidFill>
                <a:latin typeface="Source Han Sans"/>
                <a:ea typeface="Source Han Sans"/>
              </a:rPr>
              <a:t>OUR TEAM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2D74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498079" y="1097280"/>
            <a:ext cx="4663440" cy="4663440"/>
          </a:xfrm>
          <a:prstGeom prst="ellipse">
            <a:avLst/>
          </a:prstGeom>
          <a:noFill/>
          <a:ln w="12700">
            <a:solidFill>
              <a:srgbClr val="E7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772400" y="1371600"/>
            <a:ext cx="4114800" cy="4114800"/>
          </a:xfrm>
          <a:prstGeom prst="ellipse">
            <a:avLst/>
          </a:prstGeom>
          <a:solidFill>
            <a:srgbClr val="F5F9FF"/>
          </a:solidFill>
          <a:ln w="25400">
            <a:solidFill>
              <a:srgbClr val="2D74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0" y="2468880"/>
            <a:ext cx="41148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0" b="0">
                <a:solidFill>
                  <a:srgbClr val="2D74BB"/>
                </a:solidFill>
                <a:latin typeface="Source Han Sans"/>
                <a:ea typeface="Source Han Sans"/>
              </a:rPr>
              <a:t>👤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93776" y="429768"/>
            <a:ext cx="0" cy="457200"/>
          </a:xfrm>
          <a:prstGeom prst="line">
            <a:avLst/>
          </a:prstGeom>
          <a:ln w="38100">
            <a:solidFill>
              <a:srgbClr val="2D74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630936" y="384048"/>
            <a:ext cx="9144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600" b="1">
                <a:solidFill>
                  <a:srgbClr val="2D74BB"/>
                </a:solidFill>
                <a:latin typeface="Source Han Sans"/>
                <a:ea typeface="Source Han Sans"/>
              </a:rPr>
              <a:t>核心团队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" y="932688"/>
            <a:ext cx="9144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A7A7A7"/>
                </a:solidFill>
                <a:latin typeface="Source Han Sans"/>
                <a:ea typeface="Source Han Sans"/>
              </a:rPr>
              <a:t>CORE TEAM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93776" y="1252728"/>
            <a:ext cx="10780776" cy="0"/>
          </a:xfrm>
          <a:prstGeom prst="line">
            <a:avLst/>
          </a:prstGeom>
          <a:ln w="9525">
            <a:solidFill>
              <a:srgbClr val="E7E6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877824" y="1755648"/>
            <a:ext cx="256032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77824" y="1755648"/>
            <a:ext cx="2560320" cy="1188720"/>
          </a:xfrm>
          <a:prstGeom prst="roundRect">
            <a:avLst/>
          </a:prstGeom>
          <a:solidFill>
            <a:srgbClr val="F5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700784" y="2121408"/>
            <a:ext cx="914400" cy="914400"/>
          </a:xfrm>
          <a:prstGeom prst="ellipse">
            <a:avLst/>
          </a:prstGeom>
          <a:solidFill>
            <a:srgbClr val="E0EAF5"/>
          </a:solidFill>
          <a:ln w="25400">
            <a:solidFill>
              <a:srgbClr val="2D74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00784" y="2258568"/>
            <a:ext cx="914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2800" b="0">
                <a:solidFill>
                  <a:srgbClr val="2D74BB"/>
                </a:solidFill>
                <a:latin typeface="Source Han Sans"/>
                <a:ea typeface="Source Han Sans"/>
              </a:rPr>
              <a:t>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3081528"/>
            <a:ext cx="2560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>
                <a:solidFill>
                  <a:srgbClr val="2D74BB"/>
                </a:solidFill>
                <a:latin typeface="Source Han Sans"/>
                <a:ea typeface="Source Han Sans"/>
              </a:rPr>
              <a:t>张安全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3447288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0">
                <a:solidFill>
                  <a:srgbClr val="2D74BB"/>
                </a:solidFill>
                <a:latin typeface="Source Han Sans"/>
                <a:ea typeface="Source Han Sans"/>
              </a:rPr>
              <a:t>CEO / 创始人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792224" y="3767328"/>
            <a:ext cx="731520" cy="0"/>
          </a:xfrm>
          <a:prstGeom prst="line">
            <a:avLst/>
          </a:prstGeom>
          <a:ln w="12700">
            <a:solidFill>
              <a:srgbClr val="E7E6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060704" y="3904487"/>
            <a:ext cx="21945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100" b="0">
                <a:solidFill>
                  <a:srgbClr val="595757"/>
                </a:solidFill>
                <a:latin typeface="Source Han Sans"/>
                <a:ea typeface="Source Han Sans"/>
              </a:rPr>
              <a:t>15年信息安全经验</a:t>
            </a:r>
          </a:p>
          <a:p>
            <a:pPr algn="ctr">
              <a:lnSpc>
                <a:spcPct val="140000"/>
              </a:lnSpc>
            </a:pPr>
            <a:r>
              <a:rPr sz="1100" b="0">
                <a:solidFill>
                  <a:srgbClr val="595757"/>
                </a:solidFill>
                <a:latin typeface="Source Han Sans"/>
                <a:ea typeface="Source Han Sans"/>
              </a:rPr>
              <a:t>前360安全总监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66744" y="1755648"/>
            <a:ext cx="256032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666744" y="1755648"/>
            <a:ext cx="2560320" cy="1188720"/>
          </a:xfrm>
          <a:prstGeom prst="roundRect">
            <a:avLst/>
          </a:prstGeom>
          <a:solidFill>
            <a:srgbClr val="F5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489704" y="2121408"/>
            <a:ext cx="914400" cy="914400"/>
          </a:xfrm>
          <a:prstGeom prst="ellipse">
            <a:avLst/>
          </a:prstGeom>
          <a:solidFill>
            <a:srgbClr val="E0EAF5"/>
          </a:solidFill>
          <a:ln w="25400">
            <a:solidFill>
              <a:srgbClr val="2D74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89704" y="2258568"/>
            <a:ext cx="914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2800" b="0">
                <a:solidFill>
                  <a:srgbClr val="2D74BB"/>
                </a:solidFill>
                <a:latin typeface="Source Han Sans"/>
                <a:ea typeface="Source Han Sans"/>
              </a:rPr>
              <a:t>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66744" y="3081528"/>
            <a:ext cx="2560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>
                <a:solidFill>
                  <a:srgbClr val="2D74BB"/>
                </a:solidFill>
                <a:latin typeface="Source Han Sans"/>
                <a:ea typeface="Source Han Sans"/>
              </a:rPr>
              <a:t>李技术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66744" y="3447288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0">
                <a:solidFill>
                  <a:srgbClr val="2D74BB"/>
                </a:solidFill>
                <a:latin typeface="Source Han Sans"/>
                <a:ea typeface="Source Han Sans"/>
              </a:rPr>
              <a:t>CTO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581144" y="3767328"/>
            <a:ext cx="731520" cy="0"/>
          </a:xfrm>
          <a:prstGeom prst="line">
            <a:avLst/>
          </a:prstGeom>
          <a:ln w="12700">
            <a:solidFill>
              <a:srgbClr val="E7E6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3849624" y="3904487"/>
            <a:ext cx="21945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100" b="0">
                <a:solidFill>
                  <a:srgbClr val="595757"/>
                </a:solidFill>
                <a:latin typeface="Source Han Sans"/>
                <a:ea typeface="Source Han Sans"/>
              </a:rPr>
              <a:t>12年安全技术经验</a:t>
            </a:r>
          </a:p>
          <a:p>
            <a:pPr algn="ctr">
              <a:lnSpc>
                <a:spcPct val="140000"/>
              </a:lnSpc>
            </a:pPr>
            <a:r>
              <a:rPr sz="1100" b="0">
                <a:solidFill>
                  <a:srgbClr val="595757"/>
                </a:solidFill>
                <a:latin typeface="Source Han Sans"/>
                <a:ea typeface="Source Han Sans"/>
              </a:rPr>
              <a:t>前阿里P8架构师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55664" y="1755648"/>
            <a:ext cx="256032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455664" y="1755648"/>
            <a:ext cx="2560320" cy="1188720"/>
          </a:xfrm>
          <a:prstGeom prst="roundRect">
            <a:avLst/>
          </a:prstGeom>
          <a:solidFill>
            <a:srgbClr val="F5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278623" y="2121408"/>
            <a:ext cx="914400" cy="914400"/>
          </a:xfrm>
          <a:prstGeom prst="ellipse">
            <a:avLst/>
          </a:prstGeom>
          <a:solidFill>
            <a:srgbClr val="E0EAF5"/>
          </a:solidFill>
          <a:ln w="25400">
            <a:solidFill>
              <a:srgbClr val="2D74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278623" y="2258568"/>
            <a:ext cx="914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2800" b="0">
                <a:solidFill>
                  <a:srgbClr val="2D74BB"/>
                </a:solidFill>
                <a:latin typeface="Source Han Sans"/>
                <a:ea typeface="Source Han Sans"/>
              </a:rPr>
              <a:t>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55664" y="3081528"/>
            <a:ext cx="2560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>
                <a:solidFill>
                  <a:srgbClr val="2D74BB"/>
                </a:solidFill>
                <a:latin typeface="Source Han Sans"/>
                <a:ea typeface="Source Han Sans"/>
              </a:rPr>
              <a:t>王产品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55664" y="3447288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0">
                <a:solidFill>
                  <a:srgbClr val="2D74BB"/>
                </a:solidFill>
                <a:latin typeface="Source Han Sans"/>
                <a:ea typeface="Source Han Sans"/>
              </a:rPr>
              <a:t>产品总监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370063" y="3767328"/>
            <a:ext cx="731520" cy="0"/>
          </a:xfrm>
          <a:prstGeom prst="line">
            <a:avLst/>
          </a:prstGeom>
          <a:ln w="12700">
            <a:solidFill>
              <a:srgbClr val="E7E6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6638544" y="3904487"/>
            <a:ext cx="21945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100" b="0">
                <a:solidFill>
                  <a:srgbClr val="595757"/>
                </a:solidFill>
                <a:latin typeface="Source Han Sans"/>
                <a:ea typeface="Source Han Sans"/>
              </a:rPr>
              <a:t>10年ToB产品经验</a:t>
            </a:r>
          </a:p>
          <a:p>
            <a:pPr algn="ctr">
              <a:lnSpc>
                <a:spcPct val="140000"/>
              </a:lnSpc>
            </a:pPr>
            <a:r>
              <a:rPr sz="1100" b="0">
                <a:solidFill>
                  <a:srgbClr val="595757"/>
                </a:solidFill>
                <a:latin typeface="Source Han Sans"/>
                <a:ea typeface="Source Han Sans"/>
              </a:rPr>
              <a:t>资深安全产品专家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244584" y="1755648"/>
            <a:ext cx="256032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244584" y="1755648"/>
            <a:ext cx="2560320" cy="1188720"/>
          </a:xfrm>
          <a:prstGeom prst="roundRect">
            <a:avLst/>
          </a:prstGeom>
          <a:solidFill>
            <a:srgbClr val="F5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067544" y="2121408"/>
            <a:ext cx="914400" cy="914400"/>
          </a:xfrm>
          <a:prstGeom prst="ellipse">
            <a:avLst/>
          </a:prstGeom>
          <a:solidFill>
            <a:srgbClr val="E0EAF5"/>
          </a:solidFill>
          <a:ln w="25400">
            <a:solidFill>
              <a:srgbClr val="2D74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67544" y="2258568"/>
            <a:ext cx="914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2800" b="0">
                <a:solidFill>
                  <a:srgbClr val="2D74BB"/>
                </a:solidFill>
                <a:latin typeface="Source Han Sans"/>
                <a:ea typeface="Source Han Sans"/>
              </a:rPr>
              <a:t>👤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44584" y="3081528"/>
            <a:ext cx="2560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>
                <a:solidFill>
                  <a:srgbClr val="2D74BB"/>
                </a:solidFill>
                <a:latin typeface="Source Han Sans"/>
                <a:ea typeface="Source Han Sans"/>
              </a:rPr>
              <a:t>赵运营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44584" y="3447288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0">
                <a:solidFill>
                  <a:srgbClr val="2D74BB"/>
                </a:solidFill>
                <a:latin typeface="Source Han Sans"/>
                <a:ea typeface="Source Han Sans"/>
              </a:rPr>
              <a:t>运营总监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10158984" y="3767328"/>
            <a:ext cx="731520" cy="0"/>
          </a:xfrm>
          <a:prstGeom prst="line">
            <a:avLst/>
          </a:prstGeom>
          <a:ln w="12700">
            <a:solidFill>
              <a:srgbClr val="E7E6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9427463" y="3904487"/>
            <a:ext cx="21945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100" b="0">
                <a:solidFill>
                  <a:srgbClr val="595757"/>
                </a:solidFill>
                <a:latin typeface="Source Han Sans"/>
                <a:ea typeface="Source Han Sans"/>
              </a:rPr>
              <a:t>8年SaaS运营经验</a:t>
            </a:r>
          </a:p>
          <a:p>
            <a:pPr algn="ctr">
              <a:lnSpc>
                <a:spcPct val="140000"/>
              </a:lnSpc>
            </a:pPr>
            <a:r>
              <a:rPr sz="1100" b="0">
                <a:solidFill>
                  <a:srgbClr val="595757"/>
                </a:solidFill>
                <a:latin typeface="Source Han Sans"/>
                <a:ea typeface="Source Han Sans"/>
              </a:rPr>
              <a:t>增长黑客专家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D74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2D74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011680"/>
            <a:ext cx="73152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6000" b="1">
                <a:solidFill>
                  <a:srgbClr val="2D74BB"/>
                </a:solidFill>
                <a:latin typeface="Source Han Sans"/>
                <a:ea typeface="Source Han Sans"/>
              </a:rPr>
              <a:t>谢谢观看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108960"/>
            <a:ext cx="7315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A7A7A7"/>
                </a:solidFill>
                <a:latin typeface="Source Han Sans"/>
                <a:ea typeface="Source Han Sans"/>
              </a:rPr>
              <a:t>THANK YOU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371600" y="3657600"/>
            <a:ext cx="2743200" cy="0"/>
          </a:xfrm>
          <a:prstGeom prst="line">
            <a:avLst/>
          </a:prstGeom>
          <a:ln w="25400">
            <a:solidFill>
              <a:srgbClr val="2D74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371600" y="3840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595757"/>
                </a:solidFill>
                <a:latin typeface="Source Han Sans"/>
                <a:ea typeface="Source Han Sans"/>
              </a:rPr>
              <a:t>www.bangcle.com | 400-123-4567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2976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2D74BB"/>
                </a:solidFill>
                <a:latin typeface="Source Han Sans"/>
                <a:ea typeface="Source Han Sans"/>
              </a:rPr>
              <a:t>稳如泰山·值得托付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0" y="2286000"/>
            <a:ext cx="2286000" cy="2286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D74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0" y="2971800"/>
            <a:ext cx="22860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400" b="0">
                <a:solidFill>
                  <a:srgbClr val="2D74BB"/>
                </a:solidFill>
                <a:latin typeface="Source Han Sans"/>
                <a:ea typeface="Source Han Sans"/>
              </a:rPr>
              <a:t>二维码</a:t>
            </a:r>
          </a:p>
          <a:p>
            <a:pPr algn="ctr">
              <a:lnSpc>
                <a:spcPct val="130000"/>
              </a:lnSpc>
            </a:pPr>
            <a:r>
              <a:rPr sz="1400" b="0">
                <a:solidFill>
                  <a:srgbClr val="2D74BB"/>
                </a:solidFill>
                <a:latin typeface="Source Han Sans"/>
                <a:ea typeface="Source Han Sans"/>
              </a:rPr>
              <a:t>扫码关注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2D74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