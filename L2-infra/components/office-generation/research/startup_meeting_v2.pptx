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media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media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media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3" descr="Picture 3"/>
          <p:cNvPicPr>
            <a:picLocks noChangeAspect="1"/>
          </p:cNvPicPr>
          <p:nvPr/>
        </p:nvPicPr>
        <p:blipFill>
          <a:blip r:embed="rId2"/>
          <a:srcRect l="23646" t="3889" r="23646" b="3889"/>
          <a:stretch>
            <a:fillRect/>
          </a:stretch>
        </p:blipFill>
        <p:spPr>
          <a:xfrm>
            <a:off x="3162300" y="483932"/>
            <a:ext cx="5867400" cy="577463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矩形 165"/>
          <p:cNvSpPr/>
          <p:nvPr/>
        </p:nvSpPr>
        <p:spPr>
          <a:xfrm>
            <a:off x="0" y="2426036"/>
            <a:ext cx="12192000" cy="1890324"/>
          </a:xfrm>
          <a:prstGeom prst="rect">
            <a:avLst/>
          </a:prstGeom>
          <a:solidFill>
            <a:srgbClr val="2D74BB">
              <a:alpha val="94606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167"/>
          <p:cNvSpPr txBox="1"/>
          <p:nvPr/>
        </p:nvSpPr>
        <p:spPr>
          <a:xfrm>
            <a:off x="4115799" y="3666935"/>
            <a:ext cx="3960402" cy="46166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dirty="0" err="1">
                <a:latin typeface="微软雅黑" panose="020B0503020204020204" charset="-122"/>
                <a:ea typeface="微软雅黑" panose="020B0503020204020204" charset="-122"/>
              </a:rPr>
              <a:t>稳如泰山</a:t>
            </a:r>
            <a:r>
              <a:rPr dirty="0"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dirty="0" err="1">
                <a:latin typeface="微软雅黑" panose="020B0503020204020204" charset="-122"/>
                <a:ea typeface="微软雅黑" panose="020B0503020204020204" charset="-122"/>
              </a:rPr>
              <a:t>值得托付</a:t>
            </a:r>
            <a:endParaRPr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166"/>
          <p:cNvSpPr txBox="1"/>
          <p:nvPr/>
        </p:nvSpPr>
        <p:spPr>
          <a:xfrm>
            <a:off x="365760" y="2600473"/>
            <a:ext cx="11558015" cy="920750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kumimoji="1" lang="zh-CN" altLang="en-US" sz="5400" dirty="0">
                <a:ln w="12700">
                  <a:noFill/>
                </a:ln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ource Han Sans CN Bold" panose="020B0800000000000000" charset="-122"/>
                <a:sym typeface="+mn-ea"/>
              </a:rPr>
              <a:t>北京分中心二期项目启动会</a:t>
            </a:r>
            <a:endParaRPr kumimoji="1" lang="zh-CN" altLang="en-US" sz="5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汇报人:XXX  2020.01.01"/>
          <p:cNvSpPr txBox="1"/>
          <p:nvPr/>
        </p:nvSpPr>
        <p:spPr>
          <a:xfrm>
            <a:off x="9357231" y="5582920"/>
            <a:ext cx="914672" cy="353943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 defTabSz="1219200">
              <a:defRPr sz="1700">
                <a:solidFill>
                  <a:srgbClr val="A5A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2026.08</a:t>
            </a:r>
            <a:endParaRPr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330952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Microsoft YaHei"/>
              </a:rPr>
              <a:t>项目概览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612648" cy="54864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3474720" cy="43891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5544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latin typeface="Microsoft YaHei"/>
              </a:rPr>
              <a:t>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74BC"/>
                </a:solidFill>
                <a:latin typeface="Microsoft YaHei"/>
              </a:rPr>
              <a:t>合同金额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  <a:latin typeface="Microsoft YaHei"/>
              </a:rPr>
              <a:t>合同总价：¥680,000
（人民币陆拾捌万元整）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371600"/>
            <a:ext cx="3474720" cy="43891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5544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latin typeface="Microsoft YaHei"/>
              </a:rPr>
              <a:t>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7488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74BC"/>
                </a:solidFill>
                <a:latin typeface="Microsoft YaHei"/>
              </a:rPr>
              <a:t>交付内容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  <a:latin typeface="Microsoft YaHei"/>
              </a:rPr>
              <a:t>移动互联网应用程序安全服务平台 1 套
综合态势、资产管理、风险分析、通报处置
人工驻场及测试环境支撑（1人：合规测试）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7" y="1371600"/>
            <a:ext cx="3474720" cy="43891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7" y="15544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latin typeface="Microsoft YaHei"/>
              </a:rP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7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74BC"/>
                </a:solidFill>
                <a:latin typeface="Microsoft YaHei"/>
              </a:rPr>
              <a:t>项目目标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7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  <a:latin typeface="Microsoft YaHei"/>
              </a:rPr>
              <a:t>提升 App/小程序漏洞、违规出境、违规采集
个人信息的常态化监测能力
支撑平台能力：实时采集辖区活跃应用市场
移动资产数据，开展安全风险、隐私合规、
数据出境等维度综合分析展示。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330952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Microsoft YaHei"/>
              </a:rPr>
              <a:t>一期回顾 vs 二期展望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612648" cy="54864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5303520" cy="4572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64592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项目一期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417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2E"/>
                </a:solidFill>
                <a:latin typeface="Microsoft YaHei"/>
              </a:rPr>
              <a:t>合同总价：¥650,000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平台引擎能力提升：三类问题检测准确率 ≥95%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其他检测项准确率 ≥80%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驻场服务：配备 2 名专业技术人员
（合规测试一人、渗透测试一人）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应用宝 TOP200 应用检测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检测任务自动/人工协同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业务系统安全稳定运行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303520" cy="4572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1645920" cy="3657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3716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Microsoft YaHei"/>
              </a:rPr>
              <a:t>项目二期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417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2E"/>
                </a:solidFill>
                <a:latin typeface="Microsoft YaHei"/>
              </a:rPr>
              <a:t>合同总价：¥680,000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移动互联网应用程序安全服务平台 1 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综合态势、资产管理、风险分析、通报处置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51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人工驻场及测试环境支撑（1人：合规测试）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17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提升 App/小程序漏洞、违规出境、违规采集
个人信息的常态化监测能力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83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实时采集辖区活跃应用市场移动资产数据
（Android/iOS/微信小程序）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490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开展安全风险、隐私合规、数据出境等维度
综合分析展示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330952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Microsoft YaHei"/>
              </a:rPr>
              <a:t>建设思路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612648" cy="54864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11064240" cy="7315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A44"/>
                </a:solidFill>
                <a:latin typeface="Microsoft YaHei"/>
              </a:rPr>
              <a:t>围绕 "提升监测能力、提升处置效能" 两大核心，构建 常态化、自动化、精准化 的移动应用监管体系。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77440"/>
            <a:ext cx="265176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560320"/>
            <a:ext cx="320040" cy="3200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5603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E3A5F"/>
                </a:solidFill>
                <a:latin typeface="Microsoft YaHei"/>
              </a:rPr>
              <a:t>全量资产发现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全面采集辖区应用资产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2377440"/>
            <a:ext cx="265176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84448" y="2560320"/>
            <a:ext cx="320040" cy="320040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25603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5F"/>
                </a:solidFill>
                <a:latin typeface="Microsoft YaHei"/>
              </a:rPr>
              <a:t>多维风险分析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安全/隐私/数据出境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2377440"/>
            <a:ext cx="265176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19088" y="2560320"/>
            <a:ext cx="320040" cy="3200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5603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7AE60"/>
                </a:solidFill>
                <a:latin typeface="Microsoft YaHei"/>
              </a:rPr>
              <a:t>高效通报处置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自动化工单流转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70848" y="2377440"/>
            <a:ext cx="265176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53728" y="2560320"/>
            <a:ext cx="320040" cy="32004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25603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E44AD"/>
                </a:solidFill>
                <a:latin typeface="Microsoft YaHei"/>
              </a:rPr>
              <a:t>形成监管闭环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全流程跟踪管理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330952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Microsoft YaHei"/>
              </a:rPr>
              <a:t>智能监测平台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612648" cy="54864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3474720" cy="1828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74BC"/>
                </a:solidFill>
                <a:latin typeface="Microsoft YaHei"/>
              </a:rPr>
              <a:t>全量资产采集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1F2A44"/>
                </a:solidFill>
                <a:latin typeface="Microsoft YaHei"/>
              </a:rPr>
              <a:t>实时采集辖区主流应用市场
（Android/iOS）及微信小程序资产数据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822960" cy="228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FFFFFF"/>
                </a:solidFill>
                <a:latin typeface="Microsoft YaHei"/>
              </a:rPr>
              <a:t>Android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651760"/>
            <a:ext cx="822960" cy="228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6517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FFFFFF"/>
                </a:solidFill>
                <a:latin typeface="Microsoft YaHei"/>
              </a:rPr>
              <a:t>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651760"/>
            <a:ext cx="822960" cy="228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265176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FFFFFF"/>
                </a:solidFill>
                <a:latin typeface="Microsoft YaHei"/>
              </a:rPr>
              <a:t>小程序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2468880" cy="1828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74BC"/>
                </a:solidFill>
                <a:latin typeface="Microsoft YaHei"/>
              </a:rPr>
              <a:t>安全风险引擎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漏洞、恶意程序、仿冒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79" y="1371600"/>
            <a:ext cx="2468880" cy="1828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59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5F"/>
                </a:solidFill>
                <a:latin typeface="Microsoft YaHei"/>
              </a:rPr>
              <a:t>隐私合规引擎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59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违规收集、超频次获取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1371600"/>
            <a:ext cx="2468880" cy="1828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E44AD"/>
                </a:solidFill>
                <a:latin typeface="Microsoft YaHei"/>
              </a:rPr>
              <a:t>数据出境引擎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SDK监测、跨境追踪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474720"/>
            <a:ext cx="11064240" cy="2286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7AE60"/>
                </a:solidFill>
                <a:latin typeface="Microsoft YaHei"/>
              </a:rPr>
              <a:t>通报处置闭环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4023360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0233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9776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1A1A2E"/>
                </a:solidFill>
                <a:latin typeface="Microsoft YaHei"/>
              </a:rPr>
              <a:t>自动生成工单</a:t>
            </a:r>
          </a:p>
        </p:txBody>
      </p:sp>
      <p:sp>
        <p:nvSpPr>
          <p:cNvPr id="27" name="Oval 26"/>
          <p:cNvSpPr/>
          <p:nvPr/>
        </p:nvSpPr>
        <p:spPr>
          <a:xfrm>
            <a:off x="3474720" y="4023360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40233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39776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1A1A2E"/>
                </a:solidFill>
                <a:latin typeface="Microsoft YaHei"/>
              </a:rPr>
              <a:t>全流程跟踪</a:t>
            </a:r>
          </a:p>
        </p:txBody>
      </p:sp>
      <p:sp>
        <p:nvSpPr>
          <p:cNvPr id="30" name="Oval 29"/>
          <p:cNvSpPr/>
          <p:nvPr/>
        </p:nvSpPr>
        <p:spPr>
          <a:xfrm>
            <a:off x="6217920" y="4023360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40233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9776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1A1A2E"/>
                </a:solidFill>
                <a:latin typeface="Microsoft YaHei"/>
              </a:rPr>
              <a:t>复核归档</a:t>
            </a:r>
          </a:p>
        </p:txBody>
      </p:sp>
      <p:sp>
        <p:nvSpPr>
          <p:cNvPr id="33" name="Oval 32"/>
          <p:cNvSpPr/>
          <p:nvPr/>
        </p:nvSpPr>
        <p:spPr>
          <a:xfrm>
            <a:off x="8961120" y="4023360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0" y="40233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39776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1A1A2E"/>
                </a:solidFill>
                <a:latin typeface="Microsoft YaHei"/>
              </a:rPr>
              <a:t>闭环管理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330952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Microsoft YaHei"/>
              </a:rPr>
              <a:t>人工驻场与服务价值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612648" cy="54864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5303520" cy="4114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74BC"/>
                </a:solidFill>
                <a:latin typeface="Microsoft YaHei"/>
              </a:rPr>
              <a:t>专家级驻场服务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派驻资深安全工程师团队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配合分中心开展日常管理工作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提供人工复核与专业研判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7×24 小时应急响应支持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1828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5F"/>
                </a:solidFill>
                <a:latin typeface="Microsoft YaHei"/>
              </a:rPr>
              <a:t>专属测试环境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提供独立真机测试环境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对高风险 App 进行深度复测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  <a:latin typeface="Microsoft YaHei"/>
              </a:rPr>
              <a:t>● 支持多种机型与系统版本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474720"/>
            <a:ext cx="164592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74BC"/>
                </a:solidFill>
                <a:latin typeface="Microsoft YaHei"/>
              </a:rPr>
              <a:t>全面合规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931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A6B8A"/>
                </a:solidFill>
                <a:latin typeface="Microsoft YaHei"/>
              </a:rPr>
              <a:t>精准覆盖漏洞、隐私、数据出境
三大监管重点，确保合规无死角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474720"/>
            <a:ext cx="164592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7AE60"/>
                </a:solidFill>
                <a:latin typeface="Microsoft YaHei"/>
              </a:rPr>
              <a:t>提质增效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931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A6B8A"/>
                </a:solidFill>
                <a:latin typeface="Microsoft YaHei"/>
              </a:rPr>
              <a:t>自动化平台 + 人工专家模式
提升监测广度与处置深度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3474720"/>
            <a:ext cx="164592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5F"/>
                </a:solidFill>
                <a:latin typeface="Microsoft YaHei"/>
              </a:rPr>
              <a:t>实战落地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3931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A6B8A"/>
                </a:solidFill>
                <a:latin typeface="Microsoft YaHei"/>
              </a:rPr>
              <a:t>本地化驻场 + 真机测试
实现「发现得准、处置得快、管控得住」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标题 3"/>
          <p:cNvSpPr txBox="1"/>
          <p:nvPr/>
        </p:nvSpPr>
        <p:spPr>
          <a:xfrm>
            <a:off x="571500" y="457200"/>
            <a:ext cx="5334000" cy="5588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  <a:lvl2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2pPr>
            <a:lvl3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3pPr>
            <a:lvl4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4pPr>
            <a:lvl5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5pPr>
            <a:lvl6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6pPr>
            <a:lvl7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7pPr>
            <a:lvl8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8pPr>
            <a:lvl9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00" b="0" i="0" u="none" strike="noStrike" cap="none" spc="0" baseline="0">
                <a:solidFill>
                  <a:srgbClr val="2D74B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9pPr>
          </a:lstStyle>
          <a:p>
            <a:pPr hangingPunct="1"/>
            <a:r>
              <a:rPr kumimoji="1" lang="zh-CN" altLang="en-US" sz="3000" b="1" dirty="0">
                <a:ln w="12700">
                  <a:noFill/>
                </a:ln>
                <a:solidFill>
                  <a:srgbClr val="1E3A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系统架构</a:t>
            </a:r>
          </a:p>
        </p:txBody>
      </p:sp>
      <p:pic>
        <p:nvPicPr>
          <p:cNvPr id="42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0" y="1287490"/>
            <a:ext cx="8068310" cy="5513360"/>
          </a:xfrm>
          <a:prstGeom prst="rect">
            <a:avLst/>
          </a:prstGeom>
        </p:spPr>
      </p:pic>
      <p:sp>
        <p:nvSpPr>
          <p:cNvPr id="43" name="矩形 42"/>
          <p:cNvSpPr/>
          <p:nvPr/>
        </p:nvSpPr>
        <p:spPr>
          <a:xfrm>
            <a:off x="571500" y="1092200"/>
            <a:ext cx="609600" cy="50800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txBody>
          <a:bodyPr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330952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Microsoft YaHei"/>
              </a:rPr>
              <a:t>自动化检测流程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612648" cy="54864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8872" cy="3630168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118872" cy="3630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监管
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200400"/>
            <a:ext cx="118872" cy="36301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3200400"/>
            <a:ext cx="118872" cy="3630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合规
平台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389120"/>
            <a:ext cx="118872" cy="363016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389120"/>
            <a:ext cx="118872" cy="3630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测评
平台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577840"/>
            <a:ext cx="118872" cy="3630168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5577840"/>
            <a:ext cx="118872" cy="3630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监管
人员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137160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7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37360" y="1508760"/>
            <a:ext cx="228600" cy="228600"/>
          </a:xfrm>
          <a:prstGeom prst="ellipse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150876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1417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Microsoft YaHei"/>
              </a:rPr>
              <a:t>自动下载辖区内全量 APP
（含所有版本）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137160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7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749040" y="1508760"/>
            <a:ext cx="228600" cy="228600"/>
          </a:xfrm>
          <a:prstGeom prst="ellipse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0" y="150876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1417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Microsoft YaHei"/>
              </a:rPr>
              <a:t>基于 WXB 下发任务
人工创建待检测任务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137160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1508760"/>
            <a:ext cx="228600" cy="2286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150876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1417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Microsoft YaHei"/>
              </a:rPr>
              <a:t>下发合规检测任务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137160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0" y="1508760"/>
            <a:ext cx="228600" cy="2286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150876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1417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Microsoft YaHei"/>
              </a:rPr>
              <a:t>下发测评检测任务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92640" y="137160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784080" y="1508760"/>
            <a:ext cx="228600" cy="2286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150876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1417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Microsoft YaHei"/>
              </a:rPr>
              <a:t>下发合规 + 测评任务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45920" y="320040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719072" y="3337560"/>
            <a:ext cx="182880" cy="1828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19072" y="333756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246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1A1A2E"/>
                </a:solidFill>
                <a:latin typeface="Microsoft YaHei"/>
              </a:rPr>
              <a:t>自动收到任务后
执行合规检测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08960" y="320040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182112" y="3337560"/>
            <a:ext cx="182880" cy="18288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82112" y="333756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3246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1A1A2E"/>
                </a:solidFill>
                <a:latin typeface="Microsoft YaHei"/>
              </a:rPr>
              <a:t>自动收到任务后
执行测评检测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0" y="320040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645152" y="3337560"/>
            <a:ext cx="182880" cy="1828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5152" y="333756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246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1A1A2E"/>
                </a:solidFill>
                <a:latin typeface="Microsoft YaHei"/>
              </a:rPr>
              <a:t>自动返回合规测试结果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0" y="320040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08192" y="3337560"/>
            <a:ext cx="182880" cy="18288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08192" y="333756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3246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1A1A2E"/>
                </a:solidFill>
                <a:latin typeface="Microsoft YaHei"/>
              </a:rPr>
              <a:t>自动返回测评测试结果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98080" y="320040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7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571232" y="3337560"/>
            <a:ext cx="182880" cy="182880"/>
          </a:xfrm>
          <a:prstGeom prst="ellipse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71232" y="333756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3246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1A1A2E"/>
                </a:solidFill>
                <a:latin typeface="Microsoft YaHei"/>
              </a:rPr>
              <a:t>展示合规、测评
测试结果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61120" y="320040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7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034272" y="3337560"/>
            <a:ext cx="182880" cy="182880"/>
          </a:xfrm>
          <a:prstGeom prst="ellipse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34272" y="333756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⑪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3246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1A1A2E"/>
                </a:solidFill>
                <a:latin typeface="Microsoft YaHei"/>
              </a:rPr>
              <a:t>自动生成通报信息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424160" y="320040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497312" y="3337560"/>
            <a:ext cx="182880" cy="182880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497312" y="333756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⑫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98480" y="3246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1A1A2E"/>
                </a:solidFill>
                <a:latin typeface="Microsoft YaHei"/>
              </a:rPr>
              <a:t>人工核查后
生成通报报告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330952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Microsoft YaHei"/>
              </a:rPr>
              <a:t>系统问题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612648" cy="54864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347472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347472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Microsoft YaHei"/>
              </a:rPr>
              <a:t>⚠️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14173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Microsoft YaHei"/>
              </a:rPr>
              <a:t>平台可用性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394960"/>
            <a:ext cx="347472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539496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3 项核心问题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148840"/>
            <a:ext cx="73152" cy="73152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平台任务执行成功率低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331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出行类 APP 检测任务下发成功率 7%（且无明确错误提示）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3154680"/>
            <a:ext cx="73152" cy="73152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业务流程无法自动化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337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3 个平台间业务流程自动化串联异常，需要大量人工操作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4160520"/>
            <a:ext cx="73152" cy="73152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114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真机稳定性差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343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真机资源不足、设备状态不可控，无法真正实现批量任务处理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371600"/>
            <a:ext cx="347472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5968" y="1371600"/>
            <a:ext cx="3474720" cy="548640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14173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Microsoft YaHei"/>
              </a:rPr>
              <a:t>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14173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Microsoft YaHei"/>
              </a:rPr>
              <a:t>APP/SDK 数据量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5968" y="5394960"/>
            <a:ext cx="3474720" cy="320040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15968" y="539496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3 项核心问题</a:t>
            </a:r>
          </a:p>
        </p:txBody>
      </p:sp>
      <p:sp>
        <p:nvSpPr>
          <p:cNvPr id="25" name="Oval 24"/>
          <p:cNvSpPr/>
          <p:nvPr/>
        </p:nvSpPr>
        <p:spPr>
          <a:xfrm>
            <a:off x="4498848" y="2148840"/>
            <a:ext cx="73152" cy="73152"/>
          </a:xfrm>
          <a:prstGeom prst="ellipse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8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大量 SDK 不在库内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1728" y="2331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SDK 知识库覆盖不全、无自动增量</a:t>
            </a:r>
          </a:p>
        </p:txBody>
      </p:sp>
      <p:sp>
        <p:nvSpPr>
          <p:cNvPr id="28" name="Oval 27"/>
          <p:cNvSpPr/>
          <p:nvPr/>
        </p:nvSpPr>
        <p:spPr>
          <a:xfrm>
            <a:off x="4498848" y="3154680"/>
            <a:ext cx="73152" cy="73152"/>
          </a:xfrm>
          <a:prstGeom prst="ellipse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APP 与 SDK 关联少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3337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SDK 与 APP 关联数据不完整，无法支撑研判</a:t>
            </a:r>
          </a:p>
        </p:txBody>
      </p:sp>
      <p:sp>
        <p:nvSpPr>
          <p:cNvPr id="31" name="Oval 30"/>
          <p:cNvSpPr/>
          <p:nvPr/>
        </p:nvSpPr>
        <p:spPr>
          <a:xfrm>
            <a:off x="4498848" y="4160520"/>
            <a:ext cx="73152" cy="73152"/>
          </a:xfrm>
          <a:prstGeom prst="ellipse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1728" y="4114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北京市全量资产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1728" y="4343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已爬取 APP 数量较期望数量偏差极大（24W vs. 9W）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5007" y="1371600"/>
            <a:ext cx="347472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65007" y="1371600"/>
            <a:ext cx="3474720" cy="54864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47887" y="14173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Microsoft YaHei"/>
              </a:rPr>
              <a:t>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7" y="14173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Microsoft YaHei"/>
              </a:rPr>
              <a:t>APP 检测及境外传输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65007" y="5394960"/>
            <a:ext cx="3474720" cy="32004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65007" y="539496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3 项核心问题</a:t>
            </a:r>
          </a:p>
        </p:txBody>
      </p:sp>
      <p:sp>
        <p:nvSpPr>
          <p:cNvPr id="40" name="Oval 39"/>
          <p:cNvSpPr/>
          <p:nvPr/>
        </p:nvSpPr>
        <p:spPr>
          <a:xfrm>
            <a:off x="8247887" y="2148840"/>
            <a:ext cx="73152" cy="73152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30767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APP 检测项准确率低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0767" y="2331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大部分检测项准确率低，无法直接使用（客反馈误报 90% 以上）</a:t>
            </a:r>
          </a:p>
        </p:txBody>
      </p:sp>
      <p:sp>
        <p:nvSpPr>
          <p:cNvPr id="43" name="Oval 42"/>
          <p:cNvSpPr/>
          <p:nvPr/>
        </p:nvSpPr>
        <p:spPr>
          <a:xfrm>
            <a:off x="8247887" y="3154680"/>
            <a:ext cx="73152" cy="73152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30767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Android 适配问题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30767" y="3337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Android 版本需要适配更高版本（安卓 10 以上）</a:t>
            </a:r>
          </a:p>
        </p:txBody>
      </p:sp>
      <p:sp>
        <p:nvSpPr>
          <p:cNvPr id="46" name="Oval 45"/>
          <p:cNvSpPr/>
          <p:nvPr/>
        </p:nvSpPr>
        <p:spPr>
          <a:xfrm>
            <a:off x="8247887" y="4160520"/>
            <a:ext cx="73152" cy="73152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30767" y="4114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境外数据无法发现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30767" y="4343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境外检测准确率低，WXB 提供 7 个样本均无法检测到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330952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Microsoft YaHei"/>
              </a:rPr>
              <a:t>系统需求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612648" cy="54864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11064240" cy="1188720"/>
          </a:xfrm>
          <a:prstGeom prst="roundRect">
            <a:avLst/>
          </a:prstGeom>
          <a:solidFill>
            <a:srgbClr val="FFF5F5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73152" cy="118872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07A5F"/>
                </a:solidFill>
                <a:latin typeface="Microsoft YaHei"/>
              </a:rPr>
              <a:t>P0 核心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  <a:latin typeface="Microsoft YaHei"/>
              </a:rPr>
              <a:t>🎯 检测准确率（待优化）重点检测项 ≥95%，其它 ≥80%    📊 SDK 信息详情 ×2 — SDK 资产与风险数据互通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743200"/>
            <a:ext cx="11064240" cy="16459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743200"/>
            <a:ext cx="73152" cy="1645920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C74BC"/>
                </a:solidFill>
                <a:latin typeface="Microsoft YaHei"/>
              </a:rPr>
              <a:t>P1 重要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⚙️  任务管理 ×6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检测任务暂停、重启、优先级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🌐  跨境分析 ×3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611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个人信息类别判定、IP 归属地优化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📑  报告输出 ×4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611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专项报告模板（不少于 3 款）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572000"/>
            <a:ext cx="11064240" cy="13716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572000"/>
            <a:ext cx="73152" cy="1371600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617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A6B8A"/>
                </a:solidFill>
                <a:latin typeface="Microsoft YaHei"/>
              </a:rPr>
              <a:t>P2 增强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🧹  资产清理 ×1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49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已关停/下架应用自动定期清理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📈  资产统计 ×3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349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SDK 资产统计展示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📋  专项任务 ×1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349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「自动+人工」合规任务及模板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330952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Microsoft YaHei"/>
              </a:rPr>
              <a:t>核心诉求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612648" cy="54864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5303520" cy="4572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91440" cy="4572000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2C74BC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5544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latin typeface="Microsoft YaHei"/>
              </a:rPr>
              <a:t>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3A5F"/>
                </a:solidFill>
                <a:latin typeface="Microsoft YaHei"/>
              </a:rPr>
              <a:t>平台可用性、稳定性、可迭代性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108960"/>
            <a:ext cx="4114800" cy="9144"/>
          </a:xfrm>
          <a:prstGeom prst="rect">
            <a:avLst/>
          </a:prstGeom>
          <a:solidFill>
            <a:srgbClr val="2C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291840"/>
            <a:ext cx="2743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7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C74BC"/>
                </a:solidFill>
                <a:latin typeface="Microsoft YaHe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91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自动化支持业务流程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平台可自动化匹配业务流程需求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40480"/>
            <a:ext cx="2743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7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404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C74BC"/>
                </a:solidFill>
                <a:latin typeface="Microsoft YaHe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平台稳定可持续使用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89120"/>
            <a:ext cx="2743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7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891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C74BC"/>
                </a:solidFill>
                <a:latin typeface="Microsoft YaHe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持续迭代优化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检测点、准确率、易用性持续迭代优化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371600"/>
            <a:ext cx="5303520" cy="4572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371600"/>
            <a:ext cx="91440" cy="45720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554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E07A5F"/>
                </a:solidFill>
                <a:latin typeface="Microsoft YaHe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15544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latin typeface="Microsoft YaHei"/>
              </a:rPr>
              <a:t>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560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3A5F"/>
                </a:solidFill>
                <a:latin typeface="Microsoft YaHei"/>
              </a:rPr>
              <a:t>平台建设统一设计、研发、迭代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108960"/>
            <a:ext cx="4114800" cy="9144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92240" y="3291840"/>
            <a:ext cx="2743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2918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E07A5F"/>
                </a:solidFill>
                <a:latin typeface="Microsoft YaHe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291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统筹开发及测试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产品需求/BUG 统筹开发及测试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3840480"/>
            <a:ext cx="2743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8404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E07A5F"/>
                </a:solidFill>
                <a:latin typeface="Microsoft YaHe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明确整体责任人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02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涉及多产线，需明确整体责任人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4389120"/>
            <a:ext cx="2743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3891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E07A5F"/>
                </a:solidFill>
                <a:latin typeface="Microsoft YaHe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Microsoft YaHei"/>
              </a:rPr>
              <a:t>明确攻坚团队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6B8A"/>
                </a:solidFill>
                <a:latin typeface="Microsoft YaHei"/>
              </a:rPr>
              <a:t>涉及多技术难点（如数据跨境），需明确攻坚团队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34" name="Picture 3" descr="Picture 3"/>
          <p:cNvPicPr>
            <a:picLocks noChangeAspect="1"/>
          </p:cNvPicPr>
          <p:nvPr/>
        </p:nvPicPr>
        <p:blipFill>
          <a:blip r:embed="rId2"/>
          <a:srcRect l="23646" t="3889" r="23646" b="3889"/>
          <a:stretch>
            <a:fillRect/>
          </a:stretch>
        </p:blipFill>
        <p:spPr>
          <a:xfrm>
            <a:off x="3162300" y="483932"/>
            <a:ext cx="5867400" cy="577463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35" name="矩形 165"/>
          <p:cNvSpPr/>
          <p:nvPr/>
        </p:nvSpPr>
        <p:spPr>
          <a:xfrm>
            <a:off x="0" y="2426036"/>
            <a:ext cx="12192000" cy="1890324"/>
          </a:xfrm>
          <a:prstGeom prst="rect">
            <a:avLst/>
          </a:prstGeom>
          <a:solidFill>
            <a:srgbClr val="2D74BB">
              <a:alpha val="94606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/>
          </a:p>
        </p:txBody>
      </p:sp>
      <p:sp>
        <p:nvSpPr>
          <p:cNvPr id="236" name="文本框 166"/>
          <p:cNvSpPr txBox="1"/>
          <p:nvPr/>
        </p:nvSpPr>
        <p:spPr>
          <a:xfrm>
            <a:off x="4115799" y="2552419"/>
            <a:ext cx="3960402" cy="1158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6000" b="1">
                <a:solidFill>
                  <a:srgbClr val="FFFFFF"/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谢谢观看</a:t>
            </a:r>
          </a:p>
        </p:txBody>
      </p:sp>
      <p:sp>
        <p:nvSpPr>
          <p:cNvPr id="237" name="矩形 167"/>
          <p:cNvSpPr txBox="1"/>
          <p:nvPr/>
        </p:nvSpPr>
        <p:spPr>
          <a:xfrm>
            <a:off x="4115799" y="3605976"/>
            <a:ext cx="3960402" cy="5105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稳如泰山 · 值得托付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