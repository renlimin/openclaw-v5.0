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media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media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media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Picture 3"/>
          <p:cNvPicPr>
            <a:picLocks noChangeAspect="1"/>
          </p:cNvPicPr>
          <p:nvPr/>
        </p:nvPicPr>
        <p:blipFill>
          <a:blip r:embed="rId2"/>
          <a:srcRect l="23646" t="3889" r="23646" b="3889"/>
          <a:stretch>
            <a:fillRect/>
          </a:stretch>
        </p:blipFill>
        <p:spPr>
          <a:xfrm>
            <a:off x="3162300" y="483932"/>
            <a:ext cx="5867400" cy="57746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矩形 165"/>
          <p:cNvSpPr/>
          <p:nvPr/>
        </p:nvSpPr>
        <p:spPr>
          <a:xfrm>
            <a:off x="0" y="2426036"/>
            <a:ext cx="12192000" cy="1890324"/>
          </a:xfrm>
          <a:prstGeom prst="rect">
            <a:avLst/>
          </a:prstGeom>
          <a:solidFill>
            <a:srgbClr val="2D74BB">
              <a:alpha val="94606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167"/>
          <p:cNvSpPr txBox="1"/>
          <p:nvPr/>
        </p:nvSpPr>
        <p:spPr>
          <a:xfrm>
            <a:off x="4115799" y="3666935"/>
            <a:ext cx="3960402" cy="46166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稳如泰山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值得托付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166"/>
          <p:cNvSpPr txBox="1"/>
          <p:nvPr/>
        </p:nvSpPr>
        <p:spPr>
          <a:xfrm>
            <a:off x="365760" y="2600473"/>
            <a:ext cx="11558015" cy="920750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kumimoji="1" lang="zh-CN" altLang="en-US" sz="5400" dirty="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ource Han Sans CN Bold" panose="020B0800000000000000" charset="-122"/>
                <a:sym typeface="+mn-ea"/>
              </a:rPr>
              <a:t>北京分中心二期项目启动会</a:t>
            </a:r>
            <a:endParaRPr kumimoji="1" lang="zh-CN" altLang="en-US" sz="5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汇报人:XXX  2020.01.01"/>
          <p:cNvSpPr txBox="1"/>
          <p:nvPr/>
        </p:nvSpPr>
        <p:spPr>
          <a:xfrm>
            <a:off x="9357231" y="5582920"/>
            <a:ext cx="914672" cy="3539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 defTabSz="1219200">
              <a:defRPr sz="1700">
                <a:solidFill>
                  <a:srgbClr val="A5A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2026.08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项目概览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34747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合同金额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合同总价：¥680,000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371600"/>
            <a:ext cx="34747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交付内容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移动互联网应用程序安全服务平台 1 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7" y="1371600"/>
            <a:ext cx="34747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7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7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项目目标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7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提升 App/小程序漏洞的常态化监测能力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一期回顾 vs 二期展望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6459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项目一期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Microsoft YaHei"/>
              </a:rPr>
              <a:t>合合总价：¥650,000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平台引擎能力提升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其他检测项提升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驻场服务 2 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应用宝 TOP200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检测任务自动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业务系统安全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164592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Microsoft YaHei"/>
              </a:rPr>
              <a:t>项目二期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Microsoft YaHei"/>
              </a:rPr>
              <a:t>合合总价：¥680,000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移动互联网应用平台 1 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综合态势等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人工驻场 1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提升监测能力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实时采集资产数据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开展综合分析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建设思路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11064240" cy="7315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A44"/>
                </a:solidFill>
                <a:latin typeface="Microsoft YaHei"/>
              </a:rPr>
              <a:t>"提升监测能力、提升处置效能" 两大核心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320040" cy="3200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3A5F"/>
                </a:solidFill>
                <a:latin typeface="Microsoft YaHei"/>
              </a:rPr>
              <a:t>全量资产发现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全面采集辕区应用资产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84448" y="2560320"/>
            <a:ext cx="320040" cy="32004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多维风险分析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安全/隐私/数据出境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19088" y="256032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Microsoft YaHei"/>
              </a:rPr>
              <a:t>高效通报处置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自动化工单流转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53728" y="2560320"/>
            <a:ext cx="320040" cy="3200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E44AD"/>
                </a:solidFill>
                <a:latin typeface="Microsoft YaHei"/>
              </a:rPr>
              <a:t>形成监管闭环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全流程跟踪管理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智能监测平台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347472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全量资产采集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F2A44"/>
                </a:solidFill>
                <a:latin typeface="Microsoft YaHei"/>
              </a:rPr>
              <a:t>实时采集辕区主流应用市场（Android/iOS）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822960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Microsoft YaHei"/>
              </a:rPr>
              <a:t>Android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651760"/>
            <a:ext cx="822960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6517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Microsoft YaHei"/>
              </a:rPr>
              <a:t>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51760"/>
            <a:ext cx="822960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Microsoft YaHei"/>
              </a:rPr>
              <a:t>小程序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246888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安全风险引擎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漏洞、恶意程序、仿冒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79" y="1371600"/>
            <a:ext cx="246888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隐私合规引擎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违规采集、超频次获取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371600"/>
            <a:ext cx="246888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E44AD"/>
                </a:solidFill>
                <a:latin typeface="Microsoft YaHei"/>
              </a:rPr>
              <a:t>数据出境引擎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SDK监测、跨境追踪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74720"/>
            <a:ext cx="11064240" cy="2286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Microsoft YaHei"/>
              </a:rPr>
              <a:t>通报处置闭环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自动生成工单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全流程跟踪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复核归档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闭环管理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人工驻场与服务价值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303520" cy="4114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专家级驻场服务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派驻资深安全工程师团队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配合分中心开展日常管理工作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提供人工复核与专业研判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7×24 小时应急响应支撑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专属测试环境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提供独立真机测试环境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对高风险 App 进行深度复测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支撑多种机型与系统版本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16459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全面合规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A6B8A"/>
                </a:solidFill>
                <a:latin typeface="Microsoft YaHei"/>
              </a:rPr>
              <a:t>精准覆盖三大监管重点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474720"/>
            <a:ext cx="16459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Microsoft YaHei"/>
              </a:rPr>
              <a:t>提质增效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A6B8A"/>
                </a:solidFill>
                <a:latin typeface="Microsoft YaHei"/>
              </a:rPr>
              <a:t>自动化平台 + 人工专家模式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3474720"/>
            <a:ext cx="16459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实战落地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A6B8A"/>
                </a:solidFill>
                <a:latin typeface="Microsoft YaHei"/>
              </a:rPr>
              <a:t>本地化驻场 + 真机测试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/>
          <p:cNvSpPr txBox="1"/>
          <p:nvPr/>
        </p:nvSpPr>
        <p:spPr>
          <a:xfrm>
            <a:off x="571500" y="457200"/>
            <a:ext cx="5334000" cy="5588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  <a:lvl8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8pPr>
            <a:lvl9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9pPr>
          </a:lstStyle>
          <a:p>
            <a:pPr hangingPunct="1"/>
            <a:r>
              <a:rPr kumimoji="1" lang="zh-CN" altLang="en-US" sz="3000" b="1" dirty="0">
                <a:ln w="12700">
                  <a:noFill/>
                </a:ln>
                <a:solidFill>
                  <a:srgbClr val="1E3A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系统架构</a:t>
            </a:r>
          </a:p>
        </p:txBody>
      </p:sp>
      <p:pic>
        <p:nvPicPr>
          <p:cNvPr id="42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1287490"/>
            <a:ext cx="8068310" cy="551336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571500" y="1092200"/>
            <a:ext cx="609600" cy="5080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txBody>
          <a:bodyPr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400FDEC-E811-91F2-4E7D-D3640A5E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>
            <a:extLst>
              <a:ext uri="{FF2B5EF4-FFF2-40B4-BE49-F238E27FC236}">
                <a16:creationId xmlns:a16="http://schemas.microsoft.com/office/drawing/2014/main" id="{7D65CB6F-F08F-800E-46B7-A2FD901ED70A}"/>
              </a:ext>
            </a:extLst>
          </p:cNvPr>
          <p:cNvSpPr txBox="1"/>
          <p:nvPr/>
        </p:nvSpPr>
        <p:spPr>
          <a:xfrm>
            <a:off x="571500" y="457200"/>
            <a:ext cx="5334000" cy="5588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  <a:lvl8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8pPr>
            <a:lvl9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9pPr>
          </a:lstStyle>
          <a:p>
            <a:pPr hangingPunct="1"/>
            <a:r>
              <a:rPr kumimoji="1" lang="zh-CN" altLang="en-US" sz="3000" b="1" dirty="0">
                <a:ln w="12700">
                  <a:noFill/>
                </a:ln>
                <a:solidFill>
                  <a:srgbClr val="1E3A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业务流程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406B97D-C658-80C4-268D-259441C27E9A}"/>
              </a:ext>
            </a:extLst>
          </p:cNvPr>
          <p:cNvSpPr/>
          <p:nvPr/>
        </p:nvSpPr>
        <p:spPr>
          <a:xfrm>
            <a:off x="571500" y="1092200"/>
            <a:ext cx="609600" cy="5080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txBody>
          <a:bodyPr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9B8644-CE24-425C-E454-74D5F044E5E4}"/>
              </a:ext>
            </a:extLst>
          </p:cNvPr>
          <p:cNvSpPr/>
          <p:nvPr/>
        </p:nvSpPr>
        <p:spPr>
          <a:xfrm>
            <a:off x="571500" y="1423670"/>
            <a:ext cx="609600" cy="5080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txBody>
          <a:bodyPr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387366A5-0A07-8BEF-C601-EF001E195AF3}"/>
              </a:ext>
            </a:extLst>
          </p:cNvPr>
          <p:cNvSpPr/>
          <p:nvPr/>
        </p:nvSpPr>
        <p:spPr>
          <a:xfrm>
            <a:off x="274320" y="1108710"/>
            <a:ext cx="11731752" cy="21717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70B1DA1-B9F4-97E0-392C-D63450C0E276}"/>
              </a:ext>
            </a:extLst>
          </p:cNvPr>
          <p:cNvSpPr/>
          <p:nvPr/>
        </p:nvSpPr>
        <p:spPr>
          <a:xfrm>
            <a:off x="274320" y="1108710"/>
            <a:ext cx="1280160" cy="2171700"/>
          </a:xfrm>
          <a:prstGeom prst="rect">
            <a:avLst/>
          </a:prstGeom>
          <a:solidFill>
            <a:srgbClr val="2C74BC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2CB04E9B-099D-1847-D16B-D9EBF0EE12D4}"/>
              </a:ext>
            </a:extLst>
          </p:cNvPr>
          <p:cNvSpPr/>
          <p:nvPr/>
        </p:nvSpPr>
        <p:spPr>
          <a:xfrm>
            <a:off x="274320" y="2192274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监管平台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EC19A59B-7181-C37D-4812-7CF6EF271EB3}"/>
              </a:ext>
            </a:extLst>
          </p:cNvPr>
          <p:cNvSpPr/>
          <p:nvPr/>
        </p:nvSpPr>
        <p:spPr>
          <a:xfrm>
            <a:off x="274320" y="3241548"/>
            <a:ext cx="11731752" cy="1197864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591F5C9F-9825-76F0-1951-1A27CC171615}"/>
              </a:ext>
            </a:extLst>
          </p:cNvPr>
          <p:cNvSpPr/>
          <p:nvPr/>
        </p:nvSpPr>
        <p:spPr>
          <a:xfrm>
            <a:off x="274320" y="3241548"/>
            <a:ext cx="1280160" cy="1197864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E7EEFA-A77D-D20F-FBFA-C6BC00C6CDA0}"/>
              </a:ext>
            </a:extLst>
          </p:cNvPr>
          <p:cNvSpPr/>
          <p:nvPr/>
        </p:nvSpPr>
        <p:spPr>
          <a:xfrm>
            <a:off x="274320" y="3726180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合规平台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2BD54A8-527F-B254-1417-FF8372188ECD}"/>
              </a:ext>
            </a:extLst>
          </p:cNvPr>
          <p:cNvSpPr/>
          <p:nvPr/>
        </p:nvSpPr>
        <p:spPr>
          <a:xfrm>
            <a:off x="274320" y="4439412"/>
            <a:ext cx="11731752" cy="11978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CBF0CBE-0539-A4E0-AC6E-02BF0CE4FCC1}"/>
              </a:ext>
            </a:extLst>
          </p:cNvPr>
          <p:cNvSpPr/>
          <p:nvPr/>
        </p:nvSpPr>
        <p:spPr>
          <a:xfrm>
            <a:off x="274320" y="4439412"/>
            <a:ext cx="1280160" cy="1197864"/>
          </a:xfrm>
          <a:prstGeom prst="rect">
            <a:avLst/>
          </a:prstGeom>
          <a:solidFill>
            <a:srgbClr val="8E44AD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8EC9E24-0966-703E-CCFA-9C5B9025A851}"/>
              </a:ext>
            </a:extLst>
          </p:cNvPr>
          <p:cNvSpPr/>
          <p:nvPr/>
        </p:nvSpPr>
        <p:spPr>
          <a:xfrm>
            <a:off x="274320" y="4924044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测评平台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B47632C-9FF3-8451-3714-66E49409FE7F}"/>
              </a:ext>
            </a:extLst>
          </p:cNvPr>
          <p:cNvSpPr/>
          <p:nvPr/>
        </p:nvSpPr>
        <p:spPr>
          <a:xfrm>
            <a:off x="274320" y="5637276"/>
            <a:ext cx="11731752" cy="1197864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D4D75A0-7EA1-CAA0-6657-BE2548002711}"/>
              </a:ext>
            </a:extLst>
          </p:cNvPr>
          <p:cNvSpPr/>
          <p:nvPr/>
        </p:nvSpPr>
        <p:spPr>
          <a:xfrm>
            <a:off x="274320" y="5637276"/>
            <a:ext cx="1280160" cy="1197864"/>
          </a:xfrm>
          <a:prstGeom prst="rect">
            <a:avLst/>
          </a:prstGeom>
          <a:solidFill>
            <a:srgbClr val="E07A5F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05EB77E-CFEA-4976-DBCB-430D839A07FA}"/>
              </a:ext>
            </a:extLst>
          </p:cNvPr>
          <p:cNvSpPr/>
          <p:nvPr/>
        </p:nvSpPr>
        <p:spPr>
          <a:xfrm>
            <a:off x="274320" y="6121908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监管人员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727246C-4C76-63AE-E3AF-8212CCBF4E14}"/>
              </a:ext>
            </a:extLst>
          </p:cNvPr>
          <p:cNvSpPr/>
          <p:nvPr/>
        </p:nvSpPr>
        <p:spPr>
          <a:xfrm>
            <a:off x="1849374" y="1466815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C74BC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DC48E2B-AAC9-5A06-BE01-8CCA6F408DDB}"/>
              </a:ext>
            </a:extLst>
          </p:cNvPr>
          <p:cNvSpPr/>
          <p:nvPr/>
        </p:nvSpPr>
        <p:spPr>
          <a:xfrm>
            <a:off x="1921764" y="1634490"/>
            <a:ext cx="146304" cy="146304"/>
          </a:xfrm>
          <a:prstGeom prst="ellipse">
            <a:avLst/>
          </a:prstGeom>
          <a:solidFill>
            <a:srgbClr val="2C74BC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9B7B03C-8867-B0B5-17DA-59CF1A939512}"/>
              </a:ext>
            </a:extLst>
          </p:cNvPr>
          <p:cNvSpPr/>
          <p:nvPr/>
        </p:nvSpPr>
        <p:spPr>
          <a:xfrm>
            <a:off x="1921764" y="1643634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①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5A808C7-F989-FBF9-345A-8068E985FE6B}"/>
              </a:ext>
            </a:extLst>
          </p:cNvPr>
          <p:cNvSpPr/>
          <p:nvPr/>
        </p:nvSpPr>
        <p:spPr>
          <a:xfrm>
            <a:off x="2168652" y="1483614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自动下载辖区内全量APP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（含所有版本）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FACEA35-6DBF-3FB4-F124-4B09CDDA595D}"/>
              </a:ext>
            </a:extLst>
          </p:cNvPr>
          <p:cNvSpPr/>
          <p:nvPr/>
        </p:nvSpPr>
        <p:spPr>
          <a:xfrm>
            <a:off x="3529900" y="1465011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C74BC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EB080CA-EFDC-5440-3FAC-9AED576993C1}"/>
              </a:ext>
            </a:extLst>
          </p:cNvPr>
          <p:cNvSpPr/>
          <p:nvPr/>
        </p:nvSpPr>
        <p:spPr>
          <a:xfrm>
            <a:off x="3625596" y="1634490"/>
            <a:ext cx="146304" cy="146304"/>
          </a:xfrm>
          <a:prstGeom prst="ellipse">
            <a:avLst/>
          </a:prstGeom>
          <a:solidFill>
            <a:srgbClr val="2C74BC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4412323-A299-69B5-397C-7D9C635EE023}"/>
              </a:ext>
            </a:extLst>
          </p:cNvPr>
          <p:cNvSpPr/>
          <p:nvPr/>
        </p:nvSpPr>
        <p:spPr>
          <a:xfrm>
            <a:off x="3625596" y="1643634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②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EC5B92F-6B4E-44C2-4DBF-1B41D78EC6D5}"/>
              </a:ext>
            </a:extLst>
          </p:cNvPr>
          <p:cNvSpPr/>
          <p:nvPr/>
        </p:nvSpPr>
        <p:spPr>
          <a:xfrm>
            <a:off x="3872484" y="1483614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基于WXB下发任务</a:t>
            </a:r>
            <a:r>
              <a:rPr lang="zh-CN" altLang="en-US" sz="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人工创建待检测任务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8937B7D-6D2A-273B-1B16-51BC8FE2CA29}"/>
              </a:ext>
            </a:extLst>
          </p:cNvPr>
          <p:cNvSpPr/>
          <p:nvPr/>
        </p:nvSpPr>
        <p:spPr>
          <a:xfrm>
            <a:off x="5265420" y="1456182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C74BC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1C27A2D-D3B7-316D-C192-53550562A940}"/>
              </a:ext>
            </a:extLst>
          </p:cNvPr>
          <p:cNvSpPr/>
          <p:nvPr/>
        </p:nvSpPr>
        <p:spPr>
          <a:xfrm>
            <a:off x="5329428" y="1634490"/>
            <a:ext cx="146304" cy="146304"/>
          </a:xfrm>
          <a:prstGeom prst="ellipse">
            <a:avLst/>
          </a:prstGeom>
          <a:solidFill>
            <a:srgbClr val="2C74BC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9C7BD4A-E3B1-071A-9C8C-33E3CFBF61F6}"/>
              </a:ext>
            </a:extLst>
          </p:cNvPr>
          <p:cNvSpPr/>
          <p:nvPr/>
        </p:nvSpPr>
        <p:spPr>
          <a:xfrm>
            <a:off x="5329428" y="1643634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5375E49-D227-F850-0BC6-0D5AA503AA11}"/>
              </a:ext>
            </a:extLst>
          </p:cNvPr>
          <p:cNvSpPr/>
          <p:nvPr/>
        </p:nvSpPr>
        <p:spPr>
          <a:xfrm>
            <a:off x="5576316" y="1483614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下发合规检测任务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143B142-2E8B-A5DF-EB89-F97E9AD322D8}"/>
              </a:ext>
            </a:extLst>
          </p:cNvPr>
          <p:cNvSpPr/>
          <p:nvPr/>
        </p:nvSpPr>
        <p:spPr>
          <a:xfrm>
            <a:off x="6969252" y="1456182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C74BC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20CDA44-A890-25EC-0D0B-7FECBA50EA28}"/>
              </a:ext>
            </a:extLst>
          </p:cNvPr>
          <p:cNvSpPr/>
          <p:nvPr/>
        </p:nvSpPr>
        <p:spPr>
          <a:xfrm>
            <a:off x="7033260" y="1634490"/>
            <a:ext cx="146304" cy="146304"/>
          </a:xfrm>
          <a:prstGeom prst="ellipse">
            <a:avLst/>
          </a:prstGeom>
          <a:solidFill>
            <a:srgbClr val="2C74BC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C16B19A-3003-0CA9-3A2B-41575ABE0D4A}"/>
              </a:ext>
            </a:extLst>
          </p:cNvPr>
          <p:cNvSpPr/>
          <p:nvPr/>
        </p:nvSpPr>
        <p:spPr>
          <a:xfrm>
            <a:off x="7033260" y="1643634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④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83DCD2B-ACF2-2E25-2A7E-8B54AF4510E5}"/>
              </a:ext>
            </a:extLst>
          </p:cNvPr>
          <p:cNvSpPr/>
          <p:nvPr/>
        </p:nvSpPr>
        <p:spPr>
          <a:xfrm>
            <a:off x="7280148" y="1483614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下发测评检测任务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1CEB99E-6D3A-D6D0-8508-54480816782E}"/>
              </a:ext>
            </a:extLst>
          </p:cNvPr>
          <p:cNvSpPr/>
          <p:nvPr/>
        </p:nvSpPr>
        <p:spPr>
          <a:xfrm>
            <a:off x="8673084" y="1456182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C74BC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9738B79-1C4E-82BE-B9C7-323BCAC3ACFF}"/>
              </a:ext>
            </a:extLst>
          </p:cNvPr>
          <p:cNvSpPr/>
          <p:nvPr/>
        </p:nvSpPr>
        <p:spPr>
          <a:xfrm>
            <a:off x="8737092" y="1634490"/>
            <a:ext cx="146304" cy="146304"/>
          </a:xfrm>
          <a:prstGeom prst="ellipse">
            <a:avLst/>
          </a:prstGeom>
          <a:solidFill>
            <a:srgbClr val="2C74BC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E2F6A91-D19E-0345-679B-31373AFB6265}"/>
              </a:ext>
            </a:extLst>
          </p:cNvPr>
          <p:cNvSpPr/>
          <p:nvPr/>
        </p:nvSpPr>
        <p:spPr>
          <a:xfrm>
            <a:off x="8737092" y="1643634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⑤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C4A417B-4165-5FC3-F4ED-DDA7DAD5D3D2}"/>
              </a:ext>
            </a:extLst>
          </p:cNvPr>
          <p:cNvSpPr/>
          <p:nvPr/>
        </p:nvSpPr>
        <p:spPr>
          <a:xfrm>
            <a:off x="8983980" y="1483614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下发合规+测评任务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D84F580-05B3-E1C0-5AD9-70022BD5043C}"/>
              </a:ext>
            </a:extLst>
          </p:cNvPr>
          <p:cNvSpPr/>
          <p:nvPr/>
        </p:nvSpPr>
        <p:spPr>
          <a:xfrm>
            <a:off x="3561588" y="358902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10E4013-A984-1F00-8450-675ED940F058}"/>
              </a:ext>
            </a:extLst>
          </p:cNvPr>
          <p:cNvSpPr/>
          <p:nvPr/>
        </p:nvSpPr>
        <p:spPr>
          <a:xfrm>
            <a:off x="3625596" y="3767328"/>
            <a:ext cx="146304" cy="146304"/>
          </a:xfrm>
          <a:prstGeom prst="ellipse">
            <a:avLst/>
          </a:prstGeom>
          <a:solidFill>
            <a:srgbClr val="27AE60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E6DD823-2EB2-50B4-0F89-AB53F6AA202C}"/>
              </a:ext>
            </a:extLst>
          </p:cNvPr>
          <p:cNvSpPr/>
          <p:nvPr/>
        </p:nvSpPr>
        <p:spPr>
          <a:xfrm>
            <a:off x="3625596" y="3776472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⑥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3714723-211D-CCE7-8240-3EC6F6AA600C}"/>
              </a:ext>
            </a:extLst>
          </p:cNvPr>
          <p:cNvSpPr/>
          <p:nvPr/>
        </p:nvSpPr>
        <p:spPr>
          <a:xfrm>
            <a:off x="3872484" y="3616452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自动收到任务后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执行合规检测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EF8431B-9B93-F806-7CF0-D23468BB5AFB}"/>
              </a:ext>
            </a:extLst>
          </p:cNvPr>
          <p:cNvSpPr/>
          <p:nvPr/>
        </p:nvSpPr>
        <p:spPr>
          <a:xfrm>
            <a:off x="3561588" y="4754986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2CEACC8-F4A9-B082-80D3-B1106BF6CE30}"/>
              </a:ext>
            </a:extLst>
          </p:cNvPr>
          <p:cNvSpPr/>
          <p:nvPr/>
        </p:nvSpPr>
        <p:spPr>
          <a:xfrm>
            <a:off x="3625596" y="4965192"/>
            <a:ext cx="146304" cy="146304"/>
          </a:xfrm>
          <a:prstGeom prst="ellipse">
            <a:avLst/>
          </a:prstGeom>
          <a:solidFill>
            <a:srgbClr val="8E44AD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1DB163AC-4DFB-F736-B3A9-81EF342758F0}"/>
              </a:ext>
            </a:extLst>
          </p:cNvPr>
          <p:cNvSpPr/>
          <p:nvPr/>
        </p:nvSpPr>
        <p:spPr>
          <a:xfrm>
            <a:off x="3625596" y="4974336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⑦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C90C016B-D050-0C8F-6E7F-F75BF77DF3BF}"/>
              </a:ext>
            </a:extLst>
          </p:cNvPr>
          <p:cNvSpPr/>
          <p:nvPr/>
        </p:nvSpPr>
        <p:spPr>
          <a:xfrm>
            <a:off x="3872484" y="4814316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自动收到任务后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执行测评检测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DBDE132B-5D98-1C26-3B33-7AEBADF75A80}"/>
              </a:ext>
            </a:extLst>
          </p:cNvPr>
          <p:cNvSpPr/>
          <p:nvPr/>
        </p:nvSpPr>
        <p:spPr>
          <a:xfrm>
            <a:off x="6969252" y="358902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CD040F8F-697E-5CFF-64AE-70179E4C89F7}"/>
              </a:ext>
            </a:extLst>
          </p:cNvPr>
          <p:cNvSpPr/>
          <p:nvPr/>
        </p:nvSpPr>
        <p:spPr>
          <a:xfrm>
            <a:off x="7033260" y="3767328"/>
            <a:ext cx="146304" cy="146304"/>
          </a:xfrm>
          <a:prstGeom prst="ellipse">
            <a:avLst/>
          </a:prstGeom>
          <a:solidFill>
            <a:srgbClr val="27AE60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3265A24E-0E66-3A1E-2E8F-0044538230E6}"/>
              </a:ext>
            </a:extLst>
          </p:cNvPr>
          <p:cNvSpPr/>
          <p:nvPr/>
        </p:nvSpPr>
        <p:spPr>
          <a:xfrm>
            <a:off x="7033260" y="3776472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⑧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Text 45">
            <a:extLst>
              <a:ext uri="{FF2B5EF4-FFF2-40B4-BE49-F238E27FC236}">
                <a16:creationId xmlns:a16="http://schemas.microsoft.com/office/drawing/2014/main" id="{CBEB35A9-775A-1B3E-B18E-7DD158AFE9DD}"/>
              </a:ext>
            </a:extLst>
          </p:cNvPr>
          <p:cNvSpPr/>
          <p:nvPr/>
        </p:nvSpPr>
        <p:spPr>
          <a:xfrm>
            <a:off x="7280148" y="3616452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自动返回合规测试结果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Shape 46">
            <a:extLst>
              <a:ext uri="{FF2B5EF4-FFF2-40B4-BE49-F238E27FC236}">
                <a16:creationId xmlns:a16="http://schemas.microsoft.com/office/drawing/2014/main" id="{37DF31CA-1155-71CC-2A8F-A8606125AA8A}"/>
              </a:ext>
            </a:extLst>
          </p:cNvPr>
          <p:cNvSpPr/>
          <p:nvPr/>
        </p:nvSpPr>
        <p:spPr>
          <a:xfrm>
            <a:off x="6969252" y="4754985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Shape 47">
            <a:extLst>
              <a:ext uri="{FF2B5EF4-FFF2-40B4-BE49-F238E27FC236}">
                <a16:creationId xmlns:a16="http://schemas.microsoft.com/office/drawing/2014/main" id="{DC4B6813-F1F4-7D35-57ED-7C9A4F11E4B6}"/>
              </a:ext>
            </a:extLst>
          </p:cNvPr>
          <p:cNvSpPr/>
          <p:nvPr/>
        </p:nvSpPr>
        <p:spPr>
          <a:xfrm>
            <a:off x="7033260" y="4965192"/>
            <a:ext cx="146304" cy="146304"/>
          </a:xfrm>
          <a:prstGeom prst="ellipse">
            <a:avLst/>
          </a:prstGeom>
          <a:solidFill>
            <a:srgbClr val="8E44AD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C6723283-078D-967D-AA3A-EE04E92EBD96}"/>
              </a:ext>
            </a:extLst>
          </p:cNvPr>
          <p:cNvSpPr/>
          <p:nvPr/>
        </p:nvSpPr>
        <p:spPr>
          <a:xfrm>
            <a:off x="7033260" y="4974336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⑨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49">
            <a:extLst>
              <a:ext uri="{FF2B5EF4-FFF2-40B4-BE49-F238E27FC236}">
                <a16:creationId xmlns:a16="http://schemas.microsoft.com/office/drawing/2014/main" id="{4067F8B8-BEB0-7AC3-51C5-09484AE477BA}"/>
              </a:ext>
            </a:extLst>
          </p:cNvPr>
          <p:cNvSpPr/>
          <p:nvPr/>
        </p:nvSpPr>
        <p:spPr>
          <a:xfrm>
            <a:off x="7280148" y="4814316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自动返回测评测试结果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hape 50">
            <a:extLst>
              <a:ext uri="{FF2B5EF4-FFF2-40B4-BE49-F238E27FC236}">
                <a16:creationId xmlns:a16="http://schemas.microsoft.com/office/drawing/2014/main" id="{4A06AED4-7B63-BF22-A58D-D8821D98A70F}"/>
              </a:ext>
            </a:extLst>
          </p:cNvPr>
          <p:cNvSpPr/>
          <p:nvPr/>
        </p:nvSpPr>
        <p:spPr>
          <a:xfrm>
            <a:off x="5265420" y="2654046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C74BC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hape 51">
            <a:extLst>
              <a:ext uri="{FF2B5EF4-FFF2-40B4-BE49-F238E27FC236}">
                <a16:creationId xmlns:a16="http://schemas.microsoft.com/office/drawing/2014/main" id="{BB3375C5-F1A4-44FF-73DE-C9807B491147}"/>
              </a:ext>
            </a:extLst>
          </p:cNvPr>
          <p:cNvSpPr/>
          <p:nvPr/>
        </p:nvSpPr>
        <p:spPr>
          <a:xfrm>
            <a:off x="5329428" y="2832354"/>
            <a:ext cx="146304" cy="146304"/>
          </a:xfrm>
          <a:prstGeom prst="ellipse">
            <a:avLst/>
          </a:prstGeom>
          <a:solidFill>
            <a:srgbClr val="2C74BC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52">
            <a:extLst>
              <a:ext uri="{FF2B5EF4-FFF2-40B4-BE49-F238E27FC236}">
                <a16:creationId xmlns:a16="http://schemas.microsoft.com/office/drawing/2014/main" id="{008D6FDF-DD7E-A30F-869B-A708411A9710}"/>
              </a:ext>
            </a:extLst>
          </p:cNvPr>
          <p:cNvSpPr/>
          <p:nvPr/>
        </p:nvSpPr>
        <p:spPr>
          <a:xfrm>
            <a:off x="5329428" y="2841498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⑩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Text 53">
            <a:extLst>
              <a:ext uri="{FF2B5EF4-FFF2-40B4-BE49-F238E27FC236}">
                <a16:creationId xmlns:a16="http://schemas.microsoft.com/office/drawing/2014/main" id="{EA1248CF-D7EC-51AF-FBBC-EB46EF2A8F59}"/>
              </a:ext>
            </a:extLst>
          </p:cNvPr>
          <p:cNvSpPr/>
          <p:nvPr/>
        </p:nvSpPr>
        <p:spPr>
          <a:xfrm>
            <a:off x="5576316" y="2681478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展示合规、测评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测试结果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Shape 54">
            <a:extLst>
              <a:ext uri="{FF2B5EF4-FFF2-40B4-BE49-F238E27FC236}">
                <a16:creationId xmlns:a16="http://schemas.microsoft.com/office/drawing/2014/main" id="{41B2326D-2B0F-DFEF-131A-92AF044884D9}"/>
              </a:ext>
            </a:extLst>
          </p:cNvPr>
          <p:cNvSpPr/>
          <p:nvPr/>
        </p:nvSpPr>
        <p:spPr>
          <a:xfrm>
            <a:off x="8673084" y="2654046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C74BC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Shape 55">
            <a:extLst>
              <a:ext uri="{FF2B5EF4-FFF2-40B4-BE49-F238E27FC236}">
                <a16:creationId xmlns:a16="http://schemas.microsoft.com/office/drawing/2014/main" id="{F4646D03-3777-24A6-E4B8-E9195F431660}"/>
              </a:ext>
            </a:extLst>
          </p:cNvPr>
          <p:cNvSpPr/>
          <p:nvPr/>
        </p:nvSpPr>
        <p:spPr>
          <a:xfrm>
            <a:off x="8737092" y="2832354"/>
            <a:ext cx="146304" cy="146304"/>
          </a:xfrm>
          <a:prstGeom prst="ellipse">
            <a:avLst/>
          </a:prstGeom>
          <a:solidFill>
            <a:srgbClr val="2C74BC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56">
            <a:extLst>
              <a:ext uri="{FF2B5EF4-FFF2-40B4-BE49-F238E27FC236}">
                <a16:creationId xmlns:a16="http://schemas.microsoft.com/office/drawing/2014/main" id="{9D5012C0-E19E-DAF4-4DCF-0497EE328CCA}"/>
              </a:ext>
            </a:extLst>
          </p:cNvPr>
          <p:cNvSpPr/>
          <p:nvPr/>
        </p:nvSpPr>
        <p:spPr>
          <a:xfrm>
            <a:off x="8737092" y="2841498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⑪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57">
            <a:extLst>
              <a:ext uri="{FF2B5EF4-FFF2-40B4-BE49-F238E27FC236}">
                <a16:creationId xmlns:a16="http://schemas.microsoft.com/office/drawing/2014/main" id="{517F09EF-1FA8-D798-B8DC-ED67A8147D29}"/>
              </a:ext>
            </a:extLst>
          </p:cNvPr>
          <p:cNvSpPr/>
          <p:nvPr/>
        </p:nvSpPr>
        <p:spPr>
          <a:xfrm>
            <a:off x="8983980" y="2681478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自动生成通报信息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Shape 58">
            <a:extLst>
              <a:ext uri="{FF2B5EF4-FFF2-40B4-BE49-F238E27FC236}">
                <a16:creationId xmlns:a16="http://schemas.microsoft.com/office/drawing/2014/main" id="{7B041484-56E1-EBEA-3C04-466E29A2034F}"/>
              </a:ext>
            </a:extLst>
          </p:cNvPr>
          <p:cNvSpPr/>
          <p:nvPr/>
        </p:nvSpPr>
        <p:spPr>
          <a:xfrm>
            <a:off x="5265420" y="5984748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07A5F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Shape 59">
            <a:extLst>
              <a:ext uri="{FF2B5EF4-FFF2-40B4-BE49-F238E27FC236}">
                <a16:creationId xmlns:a16="http://schemas.microsoft.com/office/drawing/2014/main" id="{49B6D66D-69E4-11AC-CC9C-CA640FAE5B0A}"/>
              </a:ext>
            </a:extLst>
          </p:cNvPr>
          <p:cNvSpPr/>
          <p:nvPr/>
        </p:nvSpPr>
        <p:spPr>
          <a:xfrm>
            <a:off x="5329428" y="6163056"/>
            <a:ext cx="146304" cy="146304"/>
          </a:xfrm>
          <a:prstGeom prst="ellipse">
            <a:avLst/>
          </a:prstGeom>
          <a:solidFill>
            <a:srgbClr val="E07A5F"/>
          </a:solidFill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Text 60">
            <a:extLst>
              <a:ext uri="{FF2B5EF4-FFF2-40B4-BE49-F238E27FC236}">
                <a16:creationId xmlns:a16="http://schemas.microsoft.com/office/drawing/2014/main" id="{A8960836-526A-0569-47AF-8DC93C3EB8B5}"/>
              </a:ext>
            </a:extLst>
          </p:cNvPr>
          <p:cNvSpPr/>
          <p:nvPr/>
        </p:nvSpPr>
        <p:spPr>
          <a:xfrm>
            <a:off x="5329428" y="6172200"/>
            <a:ext cx="146304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⑫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Text 61">
            <a:extLst>
              <a:ext uri="{FF2B5EF4-FFF2-40B4-BE49-F238E27FC236}">
                <a16:creationId xmlns:a16="http://schemas.microsoft.com/office/drawing/2014/main" id="{F2838A96-1194-D2E1-7C59-66A336796C0A}"/>
              </a:ext>
            </a:extLst>
          </p:cNvPr>
          <p:cNvSpPr/>
          <p:nvPr/>
        </p:nvSpPr>
        <p:spPr>
          <a:xfrm>
            <a:off x="5576316" y="6012180"/>
            <a:ext cx="987552" cy="448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人工核查后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0"/>
              </a:rPr>
              <a:t>生成通报报告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66" name="肘形连接符 65">
            <a:extLst>
              <a:ext uri="{FF2B5EF4-FFF2-40B4-BE49-F238E27FC236}">
                <a16:creationId xmlns:a16="http://schemas.microsoft.com/office/drawing/2014/main" id="{B2A88187-15D7-11C3-B2E0-A03C5DE6D216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 flipV="1">
            <a:off x="3220974" y="1716471"/>
            <a:ext cx="308926" cy="1804"/>
          </a:xfrm>
          <a:prstGeom prst="bentConnector3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>
            <a:extLst>
              <a:ext uri="{FF2B5EF4-FFF2-40B4-BE49-F238E27FC236}">
                <a16:creationId xmlns:a16="http://schemas.microsoft.com/office/drawing/2014/main" id="{78830690-0C43-499D-08D0-8388E282AED2}"/>
              </a:ext>
            </a:extLst>
          </p:cNvPr>
          <p:cNvCxnSpPr>
            <a:stCxn id="20" idx="3"/>
            <a:endCxn id="24" idx="1"/>
          </p:cNvCxnSpPr>
          <p:nvPr/>
        </p:nvCxnSpPr>
        <p:spPr>
          <a:xfrm flipV="1">
            <a:off x="4901500" y="1707642"/>
            <a:ext cx="363920" cy="882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肘形连接符 67">
            <a:extLst>
              <a:ext uri="{FF2B5EF4-FFF2-40B4-BE49-F238E27FC236}">
                <a16:creationId xmlns:a16="http://schemas.microsoft.com/office/drawing/2014/main" id="{44B510E6-D0FF-C04F-0865-73F3FE11B8F3}"/>
              </a:ext>
            </a:extLst>
          </p:cNvPr>
          <p:cNvCxnSpPr>
            <a:stCxn id="20" idx="3"/>
            <a:endCxn id="28" idx="0"/>
          </p:cNvCxnSpPr>
          <p:nvPr/>
        </p:nvCxnSpPr>
        <p:spPr>
          <a:xfrm flipV="1">
            <a:off x="4901500" y="1456182"/>
            <a:ext cx="2753552" cy="260289"/>
          </a:xfrm>
          <a:prstGeom prst="bentConnector4">
            <a:avLst>
              <a:gd name="adj1" fmla="val 3953"/>
              <a:gd name="adj2" fmla="val 187825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68">
            <a:extLst>
              <a:ext uri="{FF2B5EF4-FFF2-40B4-BE49-F238E27FC236}">
                <a16:creationId xmlns:a16="http://schemas.microsoft.com/office/drawing/2014/main" id="{2DE6CA19-86E4-DBD2-79A2-F924A5747875}"/>
              </a:ext>
            </a:extLst>
          </p:cNvPr>
          <p:cNvCxnSpPr>
            <a:stCxn id="20" idx="3"/>
            <a:endCxn id="32" idx="0"/>
          </p:cNvCxnSpPr>
          <p:nvPr/>
        </p:nvCxnSpPr>
        <p:spPr>
          <a:xfrm flipV="1">
            <a:off x="4901500" y="1456182"/>
            <a:ext cx="4457384" cy="260289"/>
          </a:xfrm>
          <a:prstGeom prst="bentConnector4">
            <a:avLst>
              <a:gd name="adj1" fmla="val 2471"/>
              <a:gd name="adj2" fmla="val 187825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肘形连接符 69">
            <a:extLst>
              <a:ext uri="{FF2B5EF4-FFF2-40B4-BE49-F238E27FC236}">
                <a16:creationId xmlns:a16="http://schemas.microsoft.com/office/drawing/2014/main" id="{FD9DD47E-1BF3-63D8-2D12-8E93B32878E8}"/>
              </a:ext>
            </a:extLst>
          </p:cNvPr>
          <p:cNvCxnSpPr>
            <a:stCxn id="24" idx="2"/>
            <a:endCxn id="36" idx="0"/>
          </p:cNvCxnSpPr>
          <p:nvPr/>
        </p:nvCxnSpPr>
        <p:spPr>
          <a:xfrm rot="5400000">
            <a:off x="4284345" y="1922145"/>
            <a:ext cx="1629918" cy="1703832"/>
          </a:xfrm>
          <a:prstGeom prst="bentConnector3">
            <a:avLst>
              <a:gd name="adj1" fmla="val 19846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肘形连接符 70">
            <a:extLst>
              <a:ext uri="{FF2B5EF4-FFF2-40B4-BE49-F238E27FC236}">
                <a16:creationId xmlns:a16="http://schemas.microsoft.com/office/drawing/2014/main" id="{080C277E-DD2D-4E24-BC10-B7D601EB8ED3}"/>
              </a:ext>
            </a:extLst>
          </p:cNvPr>
          <p:cNvCxnSpPr>
            <a:stCxn id="32" idx="2"/>
            <a:endCxn id="36" idx="0"/>
          </p:cNvCxnSpPr>
          <p:nvPr/>
        </p:nvCxnSpPr>
        <p:spPr>
          <a:xfrm rot="5400000">
            <a:off x="5988177" y="218313"/>
            <a:ext cx="1629918" cy="5111496"/>
          </a:xfrm>
          <a:prstGeom prst="bentConnector3">
            <a:avLst>
              <a:gd name="adj1" fmla="val 19846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肘形连接符 71">
            <a:extLst>
              <a:ext uri="{FF2B5EF4-FFF2-40B4-BE49-F238E27FC236}">
                <a16:creationId xmlns:a16="http://schemas.microsoft.com/office/drawing/2014/main" id="{1164E380-D21B-4AE0-3A66-B91DCCECCBF4}"/>
              </a:ext>
            </a:extLst>
          </p:cNvPr>
          <p:cNvCxnSpPr>
            <a:stCxn id="28" idx="2"/>
            <a:endCxn id="40" idx="1"/>
          </p:cNvCxnSpPr>
          <p:nvPr/>
        </p:nvCxnSpPr>
        <p:spPr>
          <a:xfrm rot="5400000">
            <a:off x="4084648" y="1436042"/>
            <a:ext cx="3047344" cy="4093464"/>
          </a:xfrm>
          <a:prstGeom prst="bentConnector4">
            <a:avLst>
              <a:gd name="adj1" fmla="val 10992"/>
              <a:gd name="adj2" fmla="val 105585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连接符 72">
            <a:extLst>
              <a:ext uri="{FF2B5EF4-FFF2-40B4-BE49-F238E27FC236}">
                <a16:creationId xmlns:a16="http://schemas.microsoft.com/office/drawing/2014/main" id="{FDB261EA-8346-956D-E552-B5677C451927}"/>
              </a:ext>
            </a:extLst>
          </p:cNvPr>
          <p:cNvCxnSpPr>
            <a:stCxn id="32" idx="2"/>
            <a:endCxn id="40" idx="1"/>
          </p:cNvCxnSpPr>
          <p:nvPr/>
        </p:nvCxnSpPr>
        <p:spPr>
          <a:xfrm rot="5400000">
            <a:off x="4936564" y="584126"/>
            <a:ext cx="3047344" cy="5797296"/>
          </a:xfrm>
          <a:prstGeom prst="bentConnector4">
            <a:avLst>
              <a:gd name="adj1" fmla="val 10616"/>
              <a:gd name="adj2" fmla="val 103943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连接符 73">
            <a:extLst>
              <a:ext uri="{FF2B5EF4-FFF2-40B4-BE49-F238E27FC236}">
                <a16:creationId xmlns:a16="http://schemas.microsoft.com/office/drawing/2014/main" id="{7E2FFA70-0638-4477-81D3-4193847B2528}"/>
              </a:ext>
            </a:extLst>
          </p:cNvPr>
          <p:cNvCxnSpPr>
            <a:stCxn id="36" idx="3"/>
            <a:endCxn id="46" idx="1"/>
          </p:cNvCxnSpPr>
          <p:nvPr/>
        </p:nvCxnSpPr>
        <p:spPr>
          <a:xfrm>
            <a:off x="4933188" y="3840480"/>
            <a:ext cx="2036064" cy="12700"/>
          </a:xfrm>
          <a:prstGeom prst="bentConnector3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连接符 74">
            <a:extLst>
              <a:ext uri="{FF2B5EF4-FFF2-40B4-BE49-F238E27FC236}">
                <a16:creationId xmlns:a16="http://schemas.microsoft.com/office/drawing/2014/main" id="{FC0F7042-826B-7D69-394E-CEDD48E5B9CC}"/>
              </a:ext>
            </a:extLst>
          </p:cNvPr>
          <p:cNvCxnSpPr>
            <a:endCxn id="50" idx="1"/>
          </p:cNvCxnSpPr>
          <p:nvPr/>
        </p:nvCxnSpPr>
        <p:spPr>
          <a:xfrm flipV="1">
            <a:off x="4933188" y="5006445"/>
            <a:ext cx="2036064" cy="9039"/>
          </a:xfrm>
          <a:prstGeom prst="bentConnector3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肘形连接符 75">
            <a:extLst>
              <a:ext uri="{FF2B5EF4-FFF2-40B4-BE49-F238E27FC236}">
                <a16:creationId xmlns:a16="http://schemas.microsoft.com/office/drawing/2014/main" id="{AA694352-D45F-1A31-CFF6-7C90C8B61747}"/>
              </a:ext>
            </a:extLst>
          </p:cNvPr>
          <p:cNvCxnSpPr>
            <a:stCxn id="46" idx="3"/>
            <a:endCxn id="54" idx="2"/>
          </p:cNvCxnSpPr>
          <p:nvPr/>
        </p:nvCxnSpPr>
        <p:spPr>
          <a:xfrm flipH="1" flipV="1">
            <a:off x="5951220" y="3156966"/>
            <a:ext cx="2389632" cy="683514"/>
          </a:xfrm>
          <a:prstGeom prst="bentConnector4">
            <a:avLst>
              <a:gd name="adj1" fmla="val -9566"/>
              <a:gd name="adj2" fmla="val 683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47C25E03-5D6D-D436-74A1-348807C046CF}"/>
              </a:ext>
            </a:extLst>
          </p:cNvPr>
          <p:cNvCxnSpPr>
            <a:stCxn id="50" idx="3"/>
            <a:endCxn id="54" idx="2"/>
          </p:cNvCxnSpPr>
          <p:nvPr/>
        </p:nvCxnSpPr>
        <p:spPr>
          <a:xfrm flipH="1" flipV="1">
            <a:off x="5951220" y="3156966"/>
            <a:ext cx="2389632" cy="1849479"/>
          </a:xfrm>
          <a:prstGeom prst="bentConnector4">
            <a:avLst>
              <a:gd name="adj1" fmla="val -9566"/>
              <a:gd name="adj2" fmla="val 88317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肘形连接符 77">
            <a:extLst>
              <a:ext uri="{FF2B5EF4-FFF2-40B4-BE49-F238E27FC236}">
                <a16:creationId xmlns:a16="http://schemas.microsoft.com/office/drawing/2014/main" id="{E89612B1-DB76-9554-96FD-407F5580A4BD}"/>
              </a:ext>
            </a:extLst>
          </p:cNvPr>
          <p:cNvCxnSpPr>
            <a:stCxn id="62" idx="2"/>
            <a:endCxn id="58" idx="2"/>
          </p:cNvCxnSpPr>
          <p:nvPr/>
        </p:nvCxnSpPr>
        <p:spPr>
          <a:xfrm rot="5400000" flipH="1" flipV="1">
            <a:off x="5989701" y="3118485"/>
            <a:ext cx="3330702" cy="3407664"/>
          </a:xfrm>
          <a:prstGeom prst="bentConnector3">
            <a:avLst>
              <a:gd name="adj1" fmla="val -6863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0B238842-C37E-D233-FBA4-F07E8789962E}"/>
              </a:ext>
            </a:extLst>
          </p:cNvPr>
          <p:cNvCxnSpPr>
            <a:stCxn id="46" idx="3"/>
            <a:endCxn id="62" idx="3"/>
          </p:cNvCxnSpPr>
          <p:nvPr/>
        </p:nvCxnSpPr>
        <p:spPr>
          <a:xfrm flipH="1">
            <a:off x="6637020" y="3840480"/>
            <a:ext cx="1703832" cy="2395728"/>
          </a:xfrm>
          <a:prstGeom prst="bentConnector3">
            <a:avLst>
              <a:gd name="adj1" fmla="val -13417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肘形连接符 79">
            <a:extLst>
              <a:ext uri="{FF2B5EF4-FFF2-40B4-BE49-F238E27FC236}">
                <a16:creationId xmlns:a16="http://schemas.microsoft.com/office/drawing/2014/main" id="{FD5CB89D-5675-8CAB-1540-4B94D0F8CCA2}"/>
              </a:ext>
            </a:extLst>
          </p:cNvPr>
          <p:cNvCxnSpPr>
            <a:stCxn id="50" idx="3"/>
            <a:endCxn id="62" idx="3"/>
          </p:cNvCxnSpPr>
          <p:nvPr/>
        </p:nvCxnSpPr>
        <p:spPr>
          <a:xfrm flipH="1">
            <a:off x="6637020" y="5006445"/>
            <a:ext cx="1703832" cy="1229763"/>
          </a:xfrm>
          <a:prstGeom prst="bentConnector3">
            <a:avLst>
              <a:gd name="adj1" fmla="val -13417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系统问题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347472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icrosoft YaHei"/>
              </a:rPr>
              <a:t>平台可用性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394960"/>
            <a:ext cx="347472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394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 项核心问题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148840"/>
            <a:ext cx="73152" cy="7315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平台任务执行成功率低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出行类 APP 检测任务下发成功率 7%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154680"/>
            <a:ext cx="73152" cy="7315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业务流程无法自动化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3 个平台间业务流程异常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160520"/>
            <a:ext cx="73152" cy="7315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真机稳定性差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真机资源不足、设备状态不可控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37160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1371600"/>
            <a:ext cx="3474720" cy="54864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icrosoft YaHei"/>
              </a:rPr>
              <a:t>APP/SDK 数据量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5394960"/>
            <a:ext cx="3474720" cy="32004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5394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 项核心问题</a:t>
            </a:r>
          </a:p>
        </p:txBody>
      </p:sp>
      <p:sp>
        <p:nvSpPr>
          <p:cNvPr id="25" name="Oval 24"/>
          <p:cNvSpPr/>
          <p:nvPr/>
        </p:nvSpPr>
        <p:spPr>
          <a:xfrm>
            <a:off x="4498848" y="2148840"/>
            <a:ext cx="73152" cy="73152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大量 SDK 不在库内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SDK 知识库覆盖不全</a:t>
            </a:r>
          </a:p>
        </p:txBody>
      </p:sp>
      <p:sp>
        <p:nvSpPr>
          <p:cNvPr id="28" name="Oval 27"/>
          <p:cNvSpPr/>
          <p:nvPr/>
        </p:nvSpPr>
        <p:spPr>
          <a:xfrm>
            <a:off x="4498848" y="3154680"/>
            <a:ext cx="73152" cy="73152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与 APP 关联少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SDK 与 APP 关联数据不完整</a:t>
            </a:r>
          </a:p>
        </p:txBody>
      </p:sp>
      <p:sp>
        <p:nvSpPr>
          <p:cNvPr id="31" name="Oval 30"/>
          <p:cNvSpPr/>
          <p:nvPr/>
        </p:nvSpPr>
        <p:spPr>
          <a:xfrm>
            <a:off x="4498848" y="4160520"/>
            <a:ext cx="73152" cy="73152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北京市全量资产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已爬取数量远期望偏差极大（24W vs. 9W）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7" y="137160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5007" y="1371600"/>
            <a:ext cx="3474720" cy="54864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7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7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icrosoft YaHei"/>
              </a:rPr>
              <a:t>APP检测及境外传输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7" y="5394960"/>
            <a:ext cx="3474720" cy="32004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5007" y="5394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 项核心问题</a:t>
            </a:r>
          </a:p>
        </p:txBody>
      </p:sp>
      <p:sp>
        <p:nvSpPr>
          <p:cNvPr id="40" name="Oval 39"/>
          <p:cNvSpPr/>
          <p:nvPr/>
        </p:nvSpPr>
        <p:spPr>
          <a:xfrm>
            <a:off x="8247887" y="2148840"/>
            <a:ext cx="73152" cy="73152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7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APP检测项准确率低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7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大部分检测项准确率低（误报 90% 以上）</a:t>
            </a:r>
          </a:p>
        </p:txBody>
      </p:sp>
      <p:sp>
        <p:nvSpPr>
          <p:cNvPr id="43" name="Oval 42"/>
          <p:cNvSpPr/>
          <p:nvPr/>
        </p:nvSpPr>
        <p:spPr>
          <a:xfrm>
            <a:off x="8247887" y="3154680"/>
            <a:ext cx="73152" cy="73152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7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Android适配问题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7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Android版本需要适配更高版本</a:t>
            </a:r>
          </a:p>
        </p:txBody>
      </p:sp>
      <p:sp>
        <p:nvSpPr>
          <p:cNvPr id="46" name="Oval 45"/>
          <p:cNvSpPr/>
          <p:nvPr/>
        </p:nvSpPr>
        <p:spPr>
          <a:xfrm>
            <a:off x="8247887" y="4160520"/>
            <a:ext cx="73152" cy="73152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7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境外数据无法发现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7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境外检测准确率低，7 个样本均无法检测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系统需求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11064240" cy="1188720"/>
          </a:xfrm>
          <a:prstGeom prst="roundRect">
            <a:avLst/>
          </a:prstGeom>
          <a:solidFill>
            <a:srgbClr val="FFF5F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73152" cy="11887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P0 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检测准确率（待优化）重点检测项 ≥95%，其它 ≥80%    SDK 信息详情 ×2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43200"/>
            <a:ext cx="11064240" cy="16459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73152" cy="164592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P1 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⚙️  任务管理 ×6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检测任务暂停、重启、优先级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🌐  跨境分析 ×3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个人信息类别判定、IP归属地优化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📑  报告输出 ×4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专项报告模板（不少于 3 款）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72000"/>
            <a:ext cx="110642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572000"/>
            <a:ext cx="73152" cy="1371600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17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6B8A"/>
                </a:solidFill>
                <a:latin typeface="Microsoft YaHei"/>
              </a:rPr>
              <a:t>P2 增强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🧹  资产清理 ×1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已关停/下架应用自动定期清理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📈  资产统计 ×3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SDK资产统计展示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📋  专项任务 ×1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「自动+人工」合规任务及模板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核心诉求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91440" cy="457200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2C74BC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5F"/>
                </a:solidFill>
                <a:latin typeface="Microsoft YaHei"/>
              </a:rPr>
              <a:t>平台可用性、稳定性、可迭代性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4114800" cy="914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C74BC"/>
                </a:solidFill>
                <a:latin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自动化支撑业务流程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平台可自动化匹配业务流程需求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C74BC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平台稳定可持续使用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C74BC"/>
                </a:solidFill>
                <a:latin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持续迭代优化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检测点、准确率、易用性持续迭代优化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91440" cy="45720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E07A5F"/>
                </a:solidFill>
                <a:latin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5F"/>
                </a:solidFill>
                <a:latin typeface="Microsoft YaHei"/>
              </a:rPr>
              <a:t>平台建设统一设计、研发、迭代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108960"/>
            <a:ext cx="4114800" cy="9144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329184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91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07A5F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统筹开发及测试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产品需求/BUG 统筹开发及测试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84048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840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07A5F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明确整体责任人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涉及多产线，需明确整体责任人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38912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389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07A5F"/>
                </a:solidFill>
                <a:latin typeface="Microsoft YaHe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明确攻坚团队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涉及多技术难点（如数据跨境），需明确攻坚团队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Picture 3" descr="Picture 3"/>
          <p:cNvPicPr>
            <a:picLocks noChangeAspect="1"/>
          </p:cNvPicPr>
          <p:nvPr/>
        </p:nvPicPr>
        <p:blipFill>
          <a:blip r:embed="rId2"/>
          <a:srcRect l="23646" t="3889" r="23646" b="3889"/>
          <a:stretch>
            <a:fillRect/>
          </a:stretch>
        </p:blipFill>
        <p:spPr>
          <a:xfrm>
            <a:off x="3162300" y="483932"/>
            <a:ext cx="5867400" cy="57746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5" name="矩形 165"/>
          <p:cNvSpPr/>
          <p:nvPr/>
        </p:nvSpPr>
        <p:spPr>
          <a:xfrm>
            <a:off x="0" y="2426036"/>
            <a:ext cx="12192000" cy="1890324"/>
          </a:xfrm>
          <a:prstGeom prst="rect">
            <a:avLst/>
          </a:prstGeom>
          <a:solidFill>
            <a:srgbClr val="2D74BB">
              <a:alpha val="94606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/>
          </a:p>
        </p:txBody>
      </p:sp>
      <p:sp>
        <p:nvSpPr>
          <p:cNvPr id="236" name="文本框 166"/>
          <p:cNvSpPr txBox="1"/>
          <p:nvPr/>
        </p:nvSpPr>
        <p:spPr>
          <a:xfrm>
            <a:off x="4115799" y="2552419"/>
            <a:ext cx="3960402" cy="1158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6000" b="1">
                <a:solidFill>
                  <a:srgbClr val="FFFFFF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谢谢观看</a:t>
            </a:r>
          </a:p>
        </p:txBody>
      </p:sp>
      <p:sp>
        <p:nvSpPr>
          <p:cNvPr id="237" name="矩形 167"/>
          <p:cNvSpPr txBox="1"/>
          <p:nvPr/>
        </p:nvSpPr>
        <p:spPr>
          <a:xfrm>
            <a:off x="4115799" y="3605976"/>
            <a:ext cx="3960402" cy="510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稳如泰山 · 值得托付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